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8" r:id="rId9"/>
    <p:sldId id="281" r:id="rId10"/>
    <p:sldId id="320" r:id="rId11"/>
    <p:sldId id="321" r:id="rId12"/>
    <p:sldId id="322" r:id="rId13"/>
    <p:sldId id="323" r:id="rId14"/>
    <p:sldId id="324" r:id="rId15"/>
    <p:sldId id="325" r:id="rId16"/>
    <p:sldId id="327" r:id="rId17"/>
    <p:sldId id="270" r:id="rId18"/>
    <p:sldId id="292" r:id="rId19"/>
    <p:sldId id="293" r:id="rId20"/>
    <p:sldId id="294" r:id="rId21"/>
    <p:sldId id="276" r:id="rId22"/>
    <p:sldId id="277" r:id="rId23"/>
    <p:sldId id="278" r:id="rId24"/>
    <p:sldId id="279" r:id="rId25"/>
    <p:sldId id="280" r:id="rId26"/>
    <p:sldId id="31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5358" autoAdjust="0"/>
    <p:restoredTop sz="94660"/>
  </p:normalViewPr>
  <p:slideViewPr>
    <p:cSldViewPr snapToGrid="0">
      <p:cViewPr>
        <p:scale>
          <a:sx n="75" d="100"/>
          <a:sy n="75" d="100"/>
        </p:scale>
        <p:origin x="102" y="6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9493DF-64D8-485E-A006-A01E361B0754}" type="doc">
      <dgm:prSet loTypeId="urn:microsoft.com/office/officeart/2005/8/layout/vList2" loCatId="list" qsTypeId="urn:microsoft.com/office/officeart/2005/8/quickstyle/simple1#1" qsCatId="simple" csTypeId="urn:microsoft.com/office/officeart/2005/8/colors/accent1_2#1" csCatId="accent1" phldr="1"/>
      <dgm:spPr/>
      <dgm:t>
        <a:bodyPr/>
        <a:lstStyle/>
        <a:p>
          <a:endParaRPr lang="en-US"/>
        </a:p>
      </dgm:t>
    </dgm:pt>
    <dgm:pt modelId="{983CFC8A-04BC-4985-BB2F-7F7FD01729A2}">
      <dgm:prSet/>
      <dgm:spPr>
        <a:solidFill>
          <a:schemeClr val="tx1">
            <a:lumMod val="85000"/>
            <a:lumOff val="15000"/>
          </a:schemeClr>
        </a:solidFill>
      </dgm:spPr>
      <dgm:t>
        <a:bodyPr/>
        <a:lstStyle/>
        <a:p>
          <a:r>
            <a:rPr lang="en-US" b="1"/>
            <a:t>Scope :</a:t>
          </a:r>
          <a:endParaRPr lang="en-US"/>
        </a:p>
      </dgm:t>
    </dgm:pt>
    <dgm:pt modelId="{12AB3053-CC0E-42D5-96CC-A0DB77DD780A}" type="parTrans" cxnId="{75837C72-AE7A-4C6C-ADEE-941D0A4875AB}">
      <dgm:prSet/>
      <dgm:spPr/>
      <dgm:t>
        <a:bodyPr/>
        <a:lstStyle/>
        <a:p>
          <a:endParaRPr lang="en-US"/>
        </a:p>
      </dgm:t>
    </dgm:pt>
    <dgm:pt modelId="{02CA41EF-80F1-4E94-90B1-C960A068EFAA}" type="sibTrans" cxnId="{75837C72-AE7A-4C6C-ADEE-941D0A4875AB}">
      <dgm:prSet/>
      <dgm:spPr/>
      <dgm:t>
        <a:bodyPr/>
        <a:lstStyle/>
        <a:p>
          <a:endParaRPr lang="en-US"/>
        </a:p>
      </dgm:t>
    </dgm:pt>
    <dgm:pt modelId="{E33A8721-185B-4CA3-8339-93736E43FDBD}">
      <dgm:prSet/>
      <dgm:spPr/>
      <dgm:t>
        <a:bodyPr/>
        <a:lstStyle/>
        <a:p>
          <a:endParaRPr lang="en-US" dirty="0"/>
        </a:p>
      </dgm:t>
    </dgm:pt>
    <dgm:pt modelId="{9C07C476-8B0B-4C4B-A680-BCE8DE098232}" type="parTrans" cxnId="{5D83265E-4FED-4001-9551-EF46640F5209}">
      <dgm:prSet/>
      <dgm:spPr/>
      <dgm:t>
        <a:bodyPr/>
        <a:lstStyle/>
        <a:p>
          <a:endParaRPr lang="en-US"/>
        </a:p>
      </dgm:t>
    </dgm:pt>
    <dgm:pt modelId="{402941FA-9C08-4C7F-A748-4976E0D8AD64}" type="sibTrans" cxnId="{5D83265E-4FED-4001-9551-EF46640F5209}">
      <dgm:prSet/>
      <dgm:spPr/>
      <dgm:t>
        <a:bodyPr/>
        <a:lstStyle/>
        <a:p>
          <a:endParaRPr lang="en-US"/>
        </a:p>
      </dgm:t>
    </dgm:pt>
    <dgm:pt modelId="{AD08608B-DD13-4BFB-A8F2-6EBC64E6B570}">
      <dgm:prSet/>
      <dgm:spPr/>
      <dgm:t>
        <a:bodyPr/>
        <a:lstStyle/>
        <a:p>
          <a:pPr>
            <a:buFont typeface="Arial" panose="020B0604020202020204" pitchFamily="34" charset="0"/>
            <a:buChar char="•"/>
          </a:pPr>
          <a:r>
            <a:rPr lang="en-US"/>
            <a:t>Category Management – Organize books into different categories. </a:t>
          </a:r>
        </a:p>
      </dgm:t>
    </dgm:pt>
    <dgm:pt modelId="{BBCB32C3-F15D-4970-9383-999BE97B2796}" type="parTrans" cxnId="{6FB267AD-827A-4AF4-A6D2-C656311EAFF0}">
      <dgm:prSet/>
      <dgm:spPr/>
      <dgm:t>
        <a:bodyPr/>
        <a:lstStyle/>
        <a:p>
          <a:endParaRPr lang="en-IN"/>
        </a:p>
      </dgm:t>
    </dgm:pt>
    <dgm:pt modelId="{00CC535B-AF20-4E9B-AC75-F18279453206}" type="sibTrans" cxnId="{6FB267AD-827A-4AF4-A6D2-C656311EAFF0}">
      <dgm:prSet/>
      <dgm:spPr/>
      <dgm:t>
        <a:bodyPr/>
        <a:lstStyle/>
        <a:p>
          <a:endParaRPr lang="en-IN"/>
        </a:p>
      </dgm:t>
    </dgm:pt>
    <dgm:pt modelId="{22069701-58E8-42C2-A9AA-44FAE973AD15}">
      <dgm:prSet/>
      <dgm:spPr/>
      <dgm:t>
        <a:bodyPr/>
        <a:lstStyle/>
        <a:p>
          <a:pPr>
            <a:buFont typeface="Arial" panose="020B0604020202020204" pitchFamily="34" charset="0"/>
            <a:buChar char="•"/>
          </a:pPr>
          <a:r>
            <a:rPr lang="en-US"/>
            <a:t>Member Management – Manage student/member registration and information. </a:t>
          </a:r>
        </a:p>
      </dgm:t>
    </dgm:pt>
    <dgm:pt modelId="{5548D51A-5FEB-4711-9A5F-0BED50812E37}" type="parTrans" cxnId="{6387856B-CCD8-4D66-8816-37A9F6E8A3E0}">
      <dgm:prSet/>
      <dgm:spPr/>
      <dgm:t>
        <a:bodyPr/>
        <a:lstStyle/>
        <a:p>
          <a:endParaRPr lang="en-IN"/>
        </a:p>
      </dgm:t>
    </dgm:pt>
    <dgm:pt modelId="{84840806-FCA9-4939-808F-3EC32B8A1CC3}" type="sibTrans" cxnId="{6387856B-CCD8-4D66-8816-37A9F6E8A3E0}">
      <dgm:prSet/>
      <dgm:spPr/>
      <dgm:t>
        <a:bodyPr/>
        <a:lstStyle/>
        <a:p>
          <a:endParaRPr lang="en-IN"/>
        </a:p>
      </dgm:t>
    </dgm:pt>
    <dgm:pt modelId="{D356CEFE-4402-48CD-871C-3B9BD6B99DD5}">
      <dgm:prSet/>
      <dgm:spPr/>
      <dgm:t>
        <a:bodyPr/>
        <a:lstStyle/>
        <a:p>
          <a:pPr>
            <a:buFont typeface="Arial" panose="020B0604020202020204" pitchFamily="34" charset="0"/>
            <a:buChar char="•"/>
          </a:pPr>
          <a:r>
            <a:rPr lang="en-US" dirty="0"/>
            <a:t>Inventory Management – Track total, available, issued, damaged, and lost books. </a:t>
          </a:r>
        </a:p>
      </dgm:t>
    </dgm:pt>
    <dgm:pt modelId="{EB967227-C504-412D-BF4C-05D13F247AC0}" type="parTrans" cxnId="{6A250A8B-EF94-4196-812F-790CA55C0803}">
      <dgm:prSet/>
      <dgm:spPr/>
      <dgm:t>
        <a:bodyPr/>
        <a:lstStyle/>
        <a:p>
          <a:endParaRPr lang="en-IN"/>
        </a:p>
      </dgm:t>
    </dgm:pt>
    <dgm:pt modelId="{ADDD4124-E930-492F-830B-D30DBE15876B}" type="sibTrans" cxnId="{6A250A8B-EF94-4196-812F-790CA55C0803}">
      <dgm:prSet/>
      <dgm:spPr/>
      <dgm:t>
        <a:bodyPr/>
        <a:lstStyle/>
        <a:p>
          <a:endParaRPr lang="en-IN"/>
        </a:p>
      </dgm:t>
    </dgm:pt>
    <dgm:pt modelId="{57731BD4-3B81-425E-BA68-1466990FA26A}">
      <dgm:prSet/>
      <dgm:spPr/>
      <dgm:t>
        <a:bodyPr/>
        <a:lstStyle/>
        <a:p>
          <a:pPr>
            <a:buFont typeface="Arial" panose="020B0604020202020204" pitchFamily="34" charset="0"/>
            <a:buChar char="•"/>
          </a:pPr>
          <a:r>
            <a:rPr lang="en-US"/>
            <a:t>Book Search &amp; Discovery – Search and filter books by title, author, ISBN, and category. </a:t>
          </a:r>
        </a:p>
      </dgm:t>
    </dgm:pt>
    <dgm:pt modelId="{74933DB3-CC53-4858-BE1C-98DFA2D4F9AA}" type="parTrans" cxnId="{7FE458A6-83F8-460A-B83A-2DA1CA128ED8}">
      <dgm:prSet/>
      <dgm:spPr/>
      <dgm:t>
        <a:bodyPr/>
        <a:lstStyle/>
        <a:p>
          <a:endParaRPr lang="en-IN"/>
        </a:p>
      </dgm:t>
    </dgm:pt>
    <dgm:pt modelId="{137E1852-76CD-49DC-AE19-13266F1AF7A5}" type="sibTrans" cxnId="{7FE458A6-83F8-460A-B83A-2DA1CA128ED8}">
      <dgm:prSet/>
      <dgm:spPr/>
      <dgm:t>
        <a:bodyPr/>
        <a:lstStyle/>
        <a:p>
          <a:endParaRPr lang="en-IN"/>
        </a:p>
      </dgm:t>
    </dgm:pt>
    <dgm:pt modelId="{12206886-4E52-407D-A070-3ACDB811E98F}">
      <dgm:prSet/>
      <dgm:spPr/>
      <dgm:t>
        <a:bodyPr/>
        <a:lstStyle/>
        <a:p>
          <a:pPr>
            <a:buFont typeface="Arial" panose="020B0604020202020204" pitchFamily="34" charset="0"/>
            <a:buChar char="•"/>
          </a:pPr>
          <a:r>
            <a:rPr lang="en-US"/>
            <a:t>Book Issue &amp; Return – Manage book issuing, due dates, and returns. </a:t>
          </a:r>
        </a:p>
      </dgm:t>
    </dgm:pt>
    <dgm:pt modelId="{8B952ECD-9F10-4E78-903F-1FA15A327072}" type="parTrans" cxnId="{218B2987-C355-484B-88F6-4B098889EC4E}">
      <dgm:prSet/>
      <dgm:spPr/>
      <dgm:t>
        <a:bodyPr/>
        <a:lstStyle/>
        <a:p>
          <a:endParaRPr lang="en-IN"/>
        </a:p>
      </dgm:t>
    </dgm:pt>
    <dgm:pt modelId="{93C05AFD-3530-4078-B28B-10B75F599589}" type="sibTrans" cxnId="{218B2987-C355-484B-88F6-4B098889EC4E}">
      <dgm:prSet/>
      <dgm:spPr/>
      <dgm:t>
        <a:bodyPr/>
        <a:lstStyle/>
        <a:p>
          <a:endParaRPr lang="en-IN"/>
        </a:p>
      </dgm:t>
    </dgm:pt>
    <dgm:pt modelId="{4904781B-C3CC-48D2-83D3-EFB1A6FB5AEE}">
      <dgm:prSet/>
      <dgm:spPr/>
      <dgm:t>
        <a:bodyPr/>
        <a:lstStyle/>
        <a:p>
          <a:pPr>
            <a:buFont typeface="Arial" panose="020B0604020202020204" pitchFamily="34" charset="0"/>
            <a:buChar char="•"/>
          </a:pPr>
          <a:r>
            <a:rPr lang="en-US" dirty="0"/>
            <a:t>Overdue &amp; Fine Management – Track overdue books and applicable fines. </a:t>
          </a:r>
        </a:p>
      </dgm:t>
    </dgm:pt>
    <dgm:pt modelId="{7BB39497-B8CF-43FA-84B4-E1D81810184F}" type="parTrans" cxnId="{49E3D0B3-17F1-4349-8CEE-661599577BB7}">
      <dgm:prSet/>
      <dgm:spPr/>
      <dgm:t>
        <a:bodyPr/>
        <a:lstStyle/>
        <a:p>
          <a:endParaRPr lang="en-IN"/>
        </a:p>
      </dgm:t>
    </dgm:pt>
    <dgm:pt modelId="{361E79F4-8E67-41C5-A123-AD666B9247A1}" type="sibTrans" cxnId="{49E3D0B3-17F1-4349-8CEE-661599577BB7}">
      <dgm:prSet/>
      <dgm:spPr/>
      <dgm:t>
        <a:bodyPr/>
        <a:lstStyle/>
        <a:p>
          <a:endParaRPr lang="en-IN"/>
        </a:p>
      </dgm:t>
    </dgm:pt>
    <dgm:pt modelId="{1A3FCD2C-606E-4A77-8F6C-F0A5428D56D3}">
      <dgm:prSet/>
      <dgm:spPr/>
      <dgm:t>
        <a:bodyPr/>
        <a:lstStyle/>
        <a:p>
          <a:pPr>
            <a:buFont typeface="Arial" panose="020B0604020202020204" pitchFamily="34" charset="0"/>
            <a:buChar char="•"/>
          </a:pPr>
          <a:r>
            <a:rPr lang="en-US"/>
            <a:t>Borrowing History – Allow students to view current and previous borrowed books. </a:t>
          </a:r>
        </a:p>
      </dgm:t>
    </dgm:pt>
    <dgm:pt modelId="{C5CD80A5-A205-4B9D-97D5-068C5570011A}" type="parTrans" cxnId="{90FAA901-A630-44EF-81AB-D50D5A18FFE3}">
      <dgm:prSet/>
      <dgm:spPr/>
      <dgm:t>
        <a:bodyPr/>
        <a:lstStyle/>
        <a:p>
          <a:endParaRPr lang="en-IN"/>
        </a:p>
      </dgm:t>
    </dgm:pt>
    <dgm:pt modelId="{B1EC8791-BC04-42AB-86F6-E688B6E5F561}" type="sibTrans" cxnId="{90FAA901-A630-44EF-81AB-D50D5A18FFE3}">
      <dgm:prSet/>
      <dgm:spPr/>
      <dgm:t>
        <a:bodyPr/>
        <a:lstStyle/>
        <a:p>
          <a:endParaRPr lang="en-IN"/>
        </a:p>
      </dgm:t>
    </dgm:pt>
    <dgm:pt modelId="{965E17D6-8DB7-425A-91E4-B8364E13BF28}">
      <dgm:prSet/>
      <dgm:spPr/>
      <dgm:t>
        <a:bodyPr/>
        <a:lstStyle/>
        <a:p>
          <a:pPr>
            <a:buFont typeface="Arial" panose="020B0604020202020204" pitchFamily="34" charset="0"/>
            <a:buChar char="•"/>
          </a:pPr>
          <a:r>
            <a:rPr lang="en-US"/>
            <a:t>Role-Based Access – Provide separate access and functionality for Admins and Students/Members. </a:t>
          </a:r>
        </a:p>
      </dgm:t>
    </dgm:pt>
    <dgm:pt modelId="{6170FED8-D3E0-45A5-92A7-477970DFFF88}" type="parTrans" cxnId="{9FE35CE4-7EC7-4D74-95FB-1612B2318186}">
      <dgm:prSet/>
      <dgm:spPr/>
      <dgm:t>
        <a:bodyPr/>
        <a:lstStyle/>
        <a:p>
          <a:endParaRPr lang="en-IN"/>
        </a:p>
      </dgm:t>
    </dgm:pt>
    <dgm:pt modelId="{9BB356AC-CD87-4E0D-8E99-C51B46681E05}" type="sibTrans" cxnId="{9FE35CE4-7EC7-4D74-95FB-1612B2318186}">
      <dgm:prSet/>
      <dgm:spPr/>
      <dgm:t>
        <a:bodyPr/>
        <a:lstStyle/>
        <a:p>
          <a:endParaRPr lang="en-IN"/>
        </a:p>
      </dgm:t>
    </dgm:pt>
    <dgm:pt modelId="{630CAB56-6419-410A-9250-B5674DC7CB34}">
      <dgm:prSet/>
      <dgm:spPr/>
      <dgm:t>
        <a:bodyPr/>
        <a:lstStyle/>
        <a:p>
          <a:pPr>
            <a:buFont typeface="Arial" panose="020B0604020202020204" pitchFamily="34" charset="0"/>
            <a:buChar char="•"/>
          </a:pPr>
          <a:r>
            <a:rPr lang="en-US" dirty="0"/>
            <a:t>Centralized Management – Maintain library records through a single digital platform.</a:t>
          </a:r>
        </a:p>
      </dgm:t>
    </dgm:pt>
    <dgm:pt modelId="{8378C0AF-7571-4082-BD9F-1AA258BF7610}" type="parTrans" cxnId="{BEAA2049-73AB-491C-9059-476B48BF3CA0}">
      <dgm:prSet/>
      <dgm:spPr/>
      <dgm:t>
        <a:bodyPr/>
        <a:lstStyle/>
        <a:p>
          <a:endParaRPr lang="en-IN"/>
        </a:p>
      </dgm:t>
    </dgm:pt>
    <dgm:pt modelId="{0CE6961C-F36B-4204-B7AC-7FA63E1B28A9}" type="sibTrans" cxnId="{BEAA2049-73AB-491C-9059-476B48BF3CA0}">
      <dgm:prSet/>
      <dgm:spPr/>
      <dgm:t>
        <a:bodyPr/>
        <a:lstStyle/>
        <a:p>
          <a:endParaRPr lang="en-IN"/>
        </a:p>
      </dgm:t>
    </dgm:pt>
    <dgm:pt modelId="{FF4D4B9A-AE23-462C-8F56-27996F52CAB7}">
      <dgm:prSet/>
      <dgm:spPr/>
      <dgm:t>
        <a:bodyPr/>
        <a:lstStyle/>
        <a:p>
          <a:r>
            <a:rPr lang="en-US" dirty="0"/>
            <a:t>Book Management – Add, update, delete, and manage book details. </a:t>
          </a:r>
        </a:p>
      </dgm:t>
    </dgm:pt>
    <dgm:pt modelId="{7D97CD18-D37A-4155-A2F4-EDC2A0D33CB6}" type="parTrans" cxnId="{3EC0C4F7-2ACF-44E8-A22A-3D9ADD478822}">
      <dgm:prSet/>
      <dgm:spPr/>
    </dgm:pt>
    <dgm:pt modelId="{E674539D-8CEA-4A5D-B9AE-D71FA30874AD}" type="sibTrans" cxnId="{3EC0C4F7-2ACF-44E8-A22A-3D9ADD478822}">
      <dgm:prSet/>
      <dgm:spPr/>
    </dgm:pt>
    <dgm:pt modelId="{A434B535-A47E-411A-9D8D-ED7366B774DB}" type="pres">
      <dgm:prSet presAssocID="{6C9493DF-64D8-485E-A006-A01E361B0754}" presName="linear" presStyleCnt="0">
        <dgm:presLayoutVars>
          <dgm:animLvl val="lvl"/>
          <dgm:resizeHandles val="exact"/>
        </dgm:presLayoutVars>
      </dgm:prSet>
      <dgm:spPr/>
    </dgm:pt>
    <dgm:pt modelId="{5906E593-513C-42B2-8434-7EEB36B30063}" type="pres">
      <dgm:prSet presAssocID="{983CFC8A-04BC-4985-BB2F-7F7FD01729A2}" presName="parentText" presStyleLbl="node1" presStyleIdx="0" presStyleCnt="1">
        <dgm:presLayoutVars>
          <dgm:chMax val="0"/>
          <dgm:bulletEnabled val="1"/>
        </dgm:presLayoutVars>
      </dgm:prSet>
      <dgm:spPr/>
    </dgm:pt>
    <dgm:pt modelId="{16B80D7C-6B7C-4630-A80A-F8C7ADF57B3F}" type="pres">
      <dgm:prSet presAssocID="{983CFC8A-04BC-4985-BB2F-7F7FD01729A2}" presName="childText" presStyleLbl="revTx" presStyleIdx="0" presStyleCnt="1">
        <dgm:presLayoutVars>
          <dgm:bulletEnabled val="1"/>
        </dgm:presLayoutVars>
      </dgm:prSet>
      <dgm:spPr/>
    </dgm:pt>
  </dgm:ptLst>
  <dgm:cxnLst>
    <dgm:cxn modelId="{90FAA901-A630-44EF-81AB-D50D5A18FFE3}" srcId="{983CFC8A-04BC-4985-BB2F-7F7FD01729A2}" destId="{1A3FCD2C-606E-4A77-8F6C-F0A5428D56D3}" srcOrd="8" destOrd="0" parTransId="{C5CD80A5-A205-4B9D-97D5-068C5570011A}" sibTransId="{B1EC8791-BC04-42AB-86F6-E688B6E5F561}"/>
    <dgm:cxn modelId="{50CC4831-1361-41CF-94AF-CDB500258E56}" type="presOf" srcId="{965E17D6-8DB7-425A-91E4-B8364E13BF28}" destId="{16B80D7C-6B7C-4630-A80A-F8C7ADF57B3F}" srcOrd="0" destOrd="9" presId="urn:microsoft.com/office/officeart/2005/8/layout/vList2"/>
    <dgm:cxn modelId="{5D83265E-4FED-4001-9551-EF46640F5209}" srcId="{983CFC8A-04BC-4985-BB2F-7F7FD01729A2}" destId="{E33A8721-185B-4CA3-8339-93736E43FDBD}" srcOrd="0" destOrd="0" parTransId="{9C07C476-8B0B-4C4B-A680-BCE8DE098232}" sibTransId="{402941FA-9C08-4C7F-A748-4976E0D8AD64}"/>
    <dgm:cxn modelId="{BEAA2049-73AB-491C-9059-476B48BF3CA0}" srcId="{983CFC8A-04BC-4985-BB2F-7F7FD01729A2}" destId="{630CAB56-6419-410A-9250-B5674DC7CB34}" srcOrd="10" destOrd="0" parTransId="{8378C0AF-7571-4082-BD9F-1AA258BF7610}" sibTransId="{0CE6961C-F36B-4204-B7AC-7FA63E1B28A9}"/>
    <dgm:cxn modelId="{FF8F0B6A-CC14-4149-B3D5-239DAC4AFB1F}" type="presOf" srcId="{12206886-4E52-407D-A070-3ACDB811E98F}" destId="{16B80D7C-6B7C-4630-A80A-F8C7ADF57B3F}" srcOrd="0" destOrd="6" presId="urn:microsoft.com/office/officeart/2005/8/layout/vList2"/>
    <dgm:cxn modelId="{957CD44A-F29A-478B-A374-9EBD1E96D4B2}" type="presOf" srcId="{4904781B-C3CC-48D2-83D3-EFB1A6FB5AEE}" destId="{16B80D7C-6B7C-4630-A80A-F8C7ADF57B3F}" srcOrd="0" destOrd="7" presId="urn:microsoft.com/office/officeart/2005/8/layout/vList2"/>
    <dgm:cxn modelId="{6387856B-CCD8-4D66-8816-37A9F6E8A3E0}" srcId="{983CFC8A-04BC-4985-BB2F-7F7FD01729A2}" destId="{22069701-58E8-42C2-A9AA-44FAE973AD15}" srcOrd="3" destOrd="0" parTransId="{5548D51A-5FEB-4711-9A5F-0BED50812E37}" sibTransId="{84840806-FCA9-4939-808F-3EC32B8A1CC3}"/>
    <dgm:cxn modelId="{9A28BE4C-311B-4739-86B8-979B3BBB8280}" type="presOf" srcId="{630CAB56-6419-410A-9250-B5674DC7CB34}" destId="{16B80D7C-6B7C-4630-A80A-F8C7ADF57B3F}" srcOrd="0" destOrd="10" presId="urn:microsoft.com/office/officeart/2005/8/layout/vList2"/>
    <dgm:cxn modelId="{75837C72-AE7A-4C6C-ADEE-941D0A4875AB}" srcId="{6C9493DF-64D8-485E-A006-A01E361B0754}" destId="{983CFC8A-04BC-4985-BB2F-7F7FD01729A2}" srcOrd="0" destOrd="0" parTransId="{12AB3053-CC0E-42D5-96CC-A0DB77DD780A}" sibTransId="{02CA41EF-80F1-4E94-90B1-C960A068EFAA}"/>
    <dgm:cxn modelId="{0257E37D-AE16-4B0D-AA36-7003113DDE1E}" type="presOf" srcId="{57731BD4-3B81-425E-BA68-1466990FA26A}" destId="{16B80D7C-6B7C-4630-A80A-F8C7ADF57B3F}" srcOrd="0" destOrd="5" presId="urn:microsoft.com/office/officeart/2005/8/layout/vList2"/>
    <dgm:cxn modelId="{17E40082-53DC-4857-926E-253AEEDAE19B}" type="presOf" srcId="{1A3FCD2C-606E-4A77-8F6C-F0A5428D56D3}" destId="{16B80D7C-6B7C-4630-A80A-F8C7ADF57B3F}" srcOrd="0" destOrd="8" presId="urn:microsoft.com/office/officeart/2005/8/layout/vList2"/>
    <dgm:cxn modelId="{218B2987-C355-484B-88F6-4B098889EC4E}" srcId="{983CFC8A-04BC-4985-BB2F-7F7FD01729A2}" destId="{12206886-4E52-407D-A070-3ACDB811E98F}" srcOrd="6" destOrd="0" parTransId="{8B952ECD-9F10-4E78-903F-1FA15A327072}" sibTransId="{93C05AFD-3530-4078-B28B-10B75F599589}"/>
    <dgm:cxn modelId="{711FA18A-E530-4D04-A18C-0C0012FFE8FE}" type="presOf" srcId="{22069701-58E8-42C2-A9AA-44FAE973AD15}" destId="{16B80D7C-6B7C-4630-A80A-F8C7ADF57B3F}" srcOrd="0" destOrd="3" presId="urn:microsoft.com/office/officeart/2005/8/layout/vList2"/>
    <dgm:cxn modelId="{6A250A8B-EF94-4196-812F-790CA55C0803}" srcId="{983CFC8A-04BC-4985-BB2F-7F7FD01729A2}" destId="{D356CEFE-4402-48CD-871C-3B9BD6B99DD5}" srcOrd="4" destOrd="0" parTransId="{EB967227-C504-412D-BF4C-05D13F247AC0}" sibTransId="{ADDD4124-E930-492F-830B-D30DBE15876B}"/>
    <dgm:cxn modelId="{76E88599-0443-47BA-B2A6-5E9ECEAF97E9}" type="presOf" srcId="{FF4D4B9A-AE23-462C-8F56-27996F52CAB7}" destId="{16B80D7C-6B7C-4630-A80A-F8C7ADF57B3F}" srcOrd="0" destOrd="1" presId="urn:microsoft.com/office/officeart/2005/8/layout/vList2"/>
    <dgm:cxn modelId="{3DE46FA0-3B4B-4DE3-92BF-1CCEB199FFDE}" type="presOf" srcId="{983CFC8A-04BC-4985-BB2F-7F7FD01729A2}" destId="{5906E593-513C-42B2-8434-7EEB36B30063}" srcOrd="0" destOrd="0" presId="urn:microsoft.com/office/officeart/2005/8/layout/vList2"/>
    <dgm:cxn modelId="{7FE458A6-83F8-460A-B83A-2DA1CA128ED8}" srcId="{983CFC8A-04BC-4985-BB2F-7F7FD01729A2}" destId="{57731BD4-3B81-425E-BA68-1466990FA26A}" srcOrd="5" destOrd="0" parTransId="{74933DB3-CC53-4858-BE1C-98DFA2D4F9AA}" sibTransId="{137E1852-76CD-49DC-AE19-13266F1AF7A5}"/>
    <dgm:cxn modelId="{E1B872A8-8323-4E31-942E-4DFC922690B2}" type="presOf" srcId="{D356CEFE-4402-48CD-871C-3B9BD6B99DD5}" destId="{16B80D7C-6B7C-4630-A80A-F8C7ADF57B3F}" srcOrd="0" destOrd="4" presId="urn:microsoft.com/office/officeart/2005/8/layout/vList2"/>
    <dgm:cxn modelId="{6FB267AD-827A-4AF4-A6D2-C656311EAFF0}" srcId="{983CFC8A-04BC-4985-BB2F-7F7FD01729A2}" destId="{AD08608B-DD13-4BFB-A8F2-6EBC64E6B570}" srcOrd="2" destOrd="0" parTransId="{BBCB32C3-F15D-4970-9383-999BE97B2796}" sibTransId="{00CC535B-AF20-4E9B-AC75-F18279453206}"/>
    <dgm:cxn modelId="{49E3D0B3-17F1-4349-8CEE-661599577BB7}" srcId="{983CFC8A-04BC-4985-BB2F-7F7FD01729A2}" destId="{4904781B-C3CC-48D2-83D3-EFB1A6FB5AEE}" srcOrd="7" destOrd="0" parTransId="{7BB39497-B8CF-43FA-84B4-E1D81810184F}" sibTransId="{361E79F4-8E67-41C5-A123-AD666B9247A1}"/>
    <dgm:cxn modelId="{38A2C1BA-1821-4CBE-81AD-4463129DBA0B}" type="presOf" srcId="{E33A8721-185B-4CA3-8339-93736E43FDBD}" destId="{16B80D7C-6B7C-4630-A80A-F8C7ADF57B3F}" srcOrd="0" destOrd="0" presId="urn:microsoft.com/office/officeart/2005/8/layout/vList2"/>
    <dgm:cxn modelId="{32AFEAC1-0776-4461-AA6F-5E9A6B20C266}" type="presOf" srcId="{AD08608B-DD13-4BFB-A8F2-6EBC64E6B570}" destId="{16B80D7C-6B7C-4630-A80A-F8C7ADF57B3F}" srcOrd="0" destOrd="2" presId="urn:microsoft.com/office/officeart/2005/8/layout/vList2"/>
    <dgm:cxn modelId="{9FE35CE4-7EC7-4D74-95FB-1612B2318186}" srcId="{983CFC8A-04BC-4985-BB2F-7F7FD01729A2}" destId="{965E17D6-8DB7-425A-91E4-B8364E13BF28}" srcOrd="9" destOrd="0" parTransId="{6170FED8-D3E0-45A5-92A7-477970DFFF88}" sibTransId="{9BB356AC-CD87-4E0D-8E99-C51B46681E05}"/>
    <dgm:cxn modelId="{F743CDE6-4D72-4413-96DE-30E9AD18FC08}" type="presOf" srcId="{6C9493DF-64D8-485E-A006-A01E361B0754}" destId="{A434B535-A47E-411A-9D8D-ED7366B774DB}" srcOrd="0" destOrd="0" presId="urn:microsoft.com/office/officeart/2005/8/layout/vList2"/>
    <dgm:cxn modelId="{3EC0C4F7-2ACF-44E8-A22A-3D9ADD478822}" srcId="{983CFC8A-04BC-4985-BB2F-7F7FD01729A2}" destId="{FF4D4B9A-AE23-462C-8F56-27996F52CAB7}" srcOrd="1" destOrd="0" parTransId="{7D97CD18-D37A-4155-A2F4-EDC2A0D33CB6}" sibTransId="{E674539D-8CEA-4A5D-B9AE-D71FA30874AD}"/>
    <dgm:cxn modelId="{A7F7C5E7-8C2B-4F19-89B4-4506778F1EE3}" type="presParOf" srcId="{A434B535-A47E-411A-9D8D-ED7366B774DB}" destId="{5906E593-513C-42B2-8434-7EEB36B30063}" srcOrd="0" destOrd="0" presId="urn:microsoft.com/office/officeart/2005/8/layout/vList2"/>
    <dgm:cxn modelId="{EBE42E63-34CE-40CF-9CCB-FC02407FFA11}" type="presParOf" srcId="{A434B535-A47E-411A-9D8D-ED7366B774DB}" destId="{16B80D7C-6B7C-4630-A80A-F8C7ADF57B3F}"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7DD7D5-F9CA-4FAE-9C32-AC87FA55B5BA}" type="doc">
      <dgm:prSet loTypeId="urn:microsoft.com/office/officeart/2005/8/layout/vList2" loCatId="list" qsTypeId="urn:microsoft.com/office/officeart/2005/8/quickstyle/simple1#2" qsCatId="simple" csTypeId="urn:microsoft.com/office/officeart/2005/8/colors/accent1_2#2" csCatId="accent1" phldr="1"/>
      <dgm:spPr/>
      <dgm:t>
        <a:bodyPr/>
        <a:lstStyle/>
        <a:p>
          <a:endParaRPr lang="en-US"/>
        </a:p>
      </dgm:t>
    </dgm:pt>
    <dgm:pt modelId="{E9F90E1C-AD7A-4F1F-BAE5-442812C6E7DE}">
      <dgm:prSet/>
      <dgm:spPr>
        <a:solidFill>
          <a:schemeClr val="tx1">
            <a:lumMod val="85000"/>
            <a:lumOff val="15000"/>
          </a:schemeClr>
        </a:solidFill>
        <a:ln>
          <a:solidFill>
            <a:schemeClr val="tx1"/>
          </a:solidFill>
        </a:ln>
      </dgm:spPr>
      <dgm:t>
        <a:bodyPr/>
        <a:lstStyle/>
        <a:p>
          <a:r>
            <a:rPr lang="en-US" b="1"/>
            <a:t>Objectives :</a:t>
          </a:r>
          <a:endParaRPr lang="en-US"/>
        </a:p>
      </dgm:t>
    </dgm:pt>
    <dgm:pt modelId="{0C0E602E-361D-4087-BC00-AEDB909AD4C7}" type="parTrans" cxnId="{58F7A297-698B-496A-B4A5-A09915EF2763}">
      <dgm:prSet/>
      <dgm:spPr/>
      <dgm:t>
        <a:bodyPr/>
        <a:lstStyle/>
        <a:p>
          <a:endParaRPr lang="en-US"/>
        </a:p>
      </dgm:t>
    </dgm:pt>
    <dgm:pt modelId="{176EF7D9-7A08-4755-BDB1-AF1707F5BD16}" type="sibTrans" cxnId="{58F7A297-698B-496A-B4A5-A09915EF2763}">
      <dgm:prSet/>
      <dgm:spPr/>
      <dgm:t>
        <a:bodyPr/>
        <a:lstStyle/>
        <a:p>
          <a:endParaRPr lang="en-US"/>
        </a:p>
      </dgm:t>
    </dgm:pt>
    <dgm:pt modelId="{E1705069-5D12-4C3B-8576-C556A43F6F9A}">
      <dgm:prSet/>
      <dgm:spPr/>
      <dgm:t>
        <a:bodyPr/>
        <a:lstStyle/>
        <a:p>
          <a:endParaRPr lang="en-US" dirty="0"/>
        </a:p>
      </dgm:t>
    </dgm:pt>
    <dgm:pt modelId="{44EFE11E-BFCA-42BF-9AA0-E05468434C08}" type="parTrans" cxnId="{D3224086-9566-4529-B7C1-02507CFCD666}">
      <dgm:prSet/>
      <dgm:spPr/>
      <dgm:t>
        <a:bodyPr/>
        <a:lstStyle/>
        <a:p>
          <a:endParaRPr lang="en-US"/>
        </a:p>
      </dgm:t>
    </dgm:pt>
    <dgm:pt modelId="{EB29271F-9276-4574-99CF-80936543A14B}" type="sibTrans" cxnId="{D3224086-9566-4529-B7C1-02507CFCD666}">
      <dgm:prSet/>
      <dgm:spPr/>
      <dgm:t>
        <a:bodyPr/>
        <a:lstStyle/>
        <a:p>
          <a:endParaRPr lang="en-US"/>
        </a:p>
      </dgm:t>
    </dgm:pt>
    <dgm:pt modelId="{068A3BD0-8A4D-4F87-8923-2684176D42B2}">
      <dgm:prSet/>
      <dgm:spPr/>
      <dgm:t>
        <a:bodyPr/>
        <a:lstStyle/>
        <a:p>
          <a:pPr>
            <a:buFont typeface="Arial" panose="020B0604020202020204" pitchFamily="34" charset="0"/>
            <a:buChar char="•"/>
          </a:pPr>
          <a:r>
            <a:rPr lang="en-US"/>
            <a:t>To provide a centralized system for managing books, members, and inventory. </a:t>
          </a:r>
        </a:p>
      </dgm:t>
    </dgm:pt>
    <dgm:pt modelId="{EF45F450-AEE7-4949-88E5-B8BF3A1ED845}" type="parTrans" cxnId="{1A3979BD-52CD-41D4-BA9E-504358C7945F}">
      <dgm:prSet/>
      <dgm:spPr/>
      <dgm:t>
        <a:bodyPr/>
        <a:lstStyle/>
        <a:p>
          <a:endParaRPr lang="en-IN"/>
        </a:p>
      </dgm:t>
    </dgm:pt>
    <dgm:pt modelId="{A0630A1E-D7BE-49C4-A83D-71670A559ABD}" type="sibTrans" cxnId="{1A3979BD-52CD-41D4-BA9E-504358C7945F}">
      <dgm:prSet/>
      <dgm:spPr/>
      <dgm:t>
        <a:bodyPr/>
        <a:lstStyle/>
        <a:p>
          <a:endParaRPr lang="en-IN"/>
        </a:p>
      </dgm:t>
    </dgm:pt>
    <dgm:pt modelId="{9AE4A7E2-EC66-4C4F-8E41-73CFCE1920FC}">
      <dgm:prSet/>
      <dgm:spPr/>
      <dgm:t>
        <a:bodyPr/>
        <a:lstStyle/>
        <a:p>
          <a:pPr>
            <a:buFont typeface="Arial" panose="020B0604020202020204" pitchFamily="34" charset="0"/>
            <a:buChar char="•"/>
          </a:pPr>
          <a:r>
            <a:rPr lang="en-US"/>
            <a:t>To make book searching and discovery faster and easier. </a:t>
          </a:r>
        </a:p>
      </dgm:t>
    </dgm:pt>
    <dgm:pt modelId="{DDBC3BCB-7AA4-4C7B-979F-17EF20FB711B}" type="parTrans" cxnId="{16D4CD04-3049-4FEC-AD4C-5CA788D4E0D9}">
      <dgm:prSet/>
      <dgm:spPr/>
      <dgm:t>
        <a:bodyPr/>
        <a:lstStyle/>
        <a:p>
          <a:endParaRPr lang="en-IN"/>
        </a:p>
      </dgm:t>
    </dgm:pt>
    <dgm:pt modelId="{825470B2-2F11-48DD-9BF4-A3877D552727}" type="sibTrans" cxnId="{16D4CD04-3049-4FEC-AD4C-5CA788D4E0D9}">
      <dgm:prSet/>
      <dgm:spPr/>
      <dgm:t>
        <a:bodyPr/>
        <a:lstStyle/>
        <a:p>
          <a:endParaRPr lang="en-IN"/>
        </a:p>
      </dgm:t>
    </dgm:pt>
    <dgm:pt modelId="{F409D39F-5F8A-4415-8FE4-DBDFA15000BE}">
      <dgm:prSet/>
      <dgm:spPr/>
      <dgm:t>
        <a:bodyPr/>
        <a:lstStyle/>
        <a:p>
          <a:pPr>
            <a:buFont typeface="Arial" panose="020B0604020202020204" pitchFamily="34" charset="0"/>
            <a:buChar char="•"/>
          </a:pPr>
          <a:r>
            <a:rPr lang="en-US"/>
            <a:t>To efficiently manage book issue, return, due dates, and overdue records. </a:t>
          </a:r>
        </a:p>
      </dgm:t>
    </dgm:pt>
    <dgm:pt modelId="{307912DC-9D01-4663-9727-97910D7755DF}" type="parTrans" cxnId="{72CE7D39-A0E9-4FA4-945C-28D7A546EBDE}">
      <dgm:prSet/>
      <dgm:spPr/>
      <dgm:t>
        <a:bodyPr/>
        <a:lstStyle/>
        <a:p>
          <a:endParaRPr lang="en-IN"/>
        </a:p>
      </dgm:t>
    </dgm:pt>
    <dgm:pt modelId="{631B4017-9481-484B-B817-F4F8A16C850F}" type="sibTrans" cxnId="{72CE7D39-A0E9-4FA4-945C-28D7A546EBDE}">
      <dgm:prSet/>
      <dgm:spPr/>
      <dgm:t>
        <a:bodyPr/>
        <a:lstStyle/>
        <a:p>
          <a:endParaRPr lang="en-IN"/>
        </a:p>
      </dgm:t>
    </dgm:pt>
    <dgm:pt modelId="{40C47E10-0E49-44AD-BAC0-5523EB1FBD65}">
      <dgm:prSet/>
      <dgm:spPr/>
      <dgm:t>
        <a:bodyPr/>
        <a:lstStyle/>
        <a:p>
          <a:pPr>
            <a:buFont typeface="Arial" panose="020B0604020202020204" pitchFamily="34" charset="0"/>
            <a:buChar char="•"/>
          </a:pPr>
          <a:r>
            <a:rPr lang="en-US"/>
            <a:t>To maintain accurate inventory and book availability information. </a:t>
          </a:r>
        </a:p>
      </dgm:t>
    </dgm:pt>
    <dgm:pt modelId="{69B3BB07-5BCF-4BC9-8FF2-8A26726F95BC}" type="parTrans" cxnId="{78FA622C-D390-4D90-902A-B22EC81B6D70}">
      <dgm:prSet/>
      <dgm:spPr/>
      <dgm:t>
        <a:bodyPr/>
        <a:lstStyle/>
        <a:p>
          <a:endParaRPr lang="en-IN"/>
        </a:p>
      </dgm:t>
    </dgm:pt>
    <dgm:pt modelId="{427FFEC0-72D7-450D-BE6C-85E5F254CE40}" type="sibTrans" cxnId="{78FA622C-D390-4D90-902A-B22EC81B6D70}">
      <dgm:prSet/>
      <dgm:spPr/>
      <dgm:t>
        <a:bodyPr/>
        <a:lstStyle/>
        <a:p>
          <a:endParaRPr lang="en-IN"/>
        </a:p>
      </dgm:t>
    </dgm:pt>
    <dgm:pt modelId="{00C237D5-353A-4933-B1C2-E38E979A484E}">
      <dgm:prSet/>
      <dgm:spPr/>
      <dgm:t>
        <a:bodyPr/>
        <a:lstStyle/>
        <a:p>
          <a:pPr>
            <a:buFont typeface="Arial" panose="020B0604020202020204" pitchFamily="34" charset="0"/>
            <a:buChar char="•"/>
          </a:pPr>
          <a:r>
            <a:rPr lang="en-US"/>
            <a:t>To track fines and borrowing history effectively. </a:t>
          </a:r>
        </a:p>
      </dgm:t>
    </dgm:pt>
    <dgm:pt modelId="{D3E7F6BD-642C-43F1-BA09-ACA9789A7755}" type="parTrans" cxnId="{3FF6472C-791E-4D25-8E54-422293D790D8}">
      <dgm:prSet/>
      <dgm:spPr/>
      <dgm:t>
        <a:bodyPr/>
        <a:lstStyle/>
        <a:p>
          <a:endParaRPr lang="en-IN"/>
        </a:p>
      </dgm:t>
    </dgm:pt>
    <dgm:pt modelId="{9F7F3184-7229-4190-8BF4-0DFDCEE1A783}" type="sibTrans" cxnId="{3FF6472C-791E-4D25-8E54-422293D790D8}">
      <dgm:prSet/>
      <dgm:spPr/>
      <dgm:t>
        <a:bodyPr/>
        <a:lstStyle/>
        <a:p>
          <a:endParaRPr lang="en-IN"/>
        </a:p>
      </dgm:t>
    </dgm:pt>
    <dgm:pt modelId="{27439A8C-342A-4BB5-8A6C-E24FD916D3DE}">
      <dgm:prSet/>
      <dgm:spPr/>
      <dgm:t>
        <a:bodyPr/>
        <a:lstStyle/>
        <a:p>
          <a:pPr>
            <a:buFont typeface="Arial" panose="020B0604020202020204" pitchFamily="34" charset="0"/>
            <a:buChar char="•"/>
          </a:pPr>
          <a:r>
            <a:rPr lang="en-US"/>
            <a:t>To provide secure role-based access for Admins and Students/Members. </a:t>
          </a:r>
        </a:p>
      </dgm:t>
    </dgm:pt>
    <dgm:pt modelId="{ED036510-6D3F-47AD-BCE6-40C23E289069}" type="parTrans" cxnId="{97843CBC-AA43-4928-B021-47E5E1FA7385}">
      <dgm:prSet/>
      <dgm:spPr/>
      <dgm:t>
        <a:bodyPr/>
        <a:lstStyle/>
        <a:p>
          <a:endParaRPr lang="en-IN"/>
        </a:p>
      </dgm:t>
    </dgm:pt>
    <dgm:pt modelId="{37AF69EA-6BE2-4297-81D0-0AE14BFE1AB1}" type="sibTrans" cxnId="{97843CBC-AA43-4928-B021-47E5E1FA7385}">
      <dgm:prSet/>
      <dgm:spPr/>
      <dgm:t>
        <a:bodyPr/>
        <a:lstStyle/>
        <a:p>
          <a:endParaRPr lang="en-IN"/>
        </a:p>
      </dgm:t>
    </dgm:pt>
    <dgm:pt modelId="{637CB4A6-04D3-49D3-804B-AC621DEA2A5E}">
      <dgm:prSet/>
      <dgm:spPr/>
      <dgm:t>
        <a:bodyPr/>
        <a:lstStyle/>
        <a:p>
          <a:pPr>
            <a:buFont typeface="Arial" panose="020B0604020202020204" pitchFamily="34" charset="0"/>
            <a:buChar char="•"/>
          </a:pPr>
          <a:r>
            <a:rPr lang="en-US"/>
            <a:t>To reduce manual paperwork and administrative effort. </a:t>
          </a:r>
        </a:p>
      </dgm:t>
    </dgm:pt>
    <dgm:pt modelId="{8AF02A0B-A532-4CCA-95B9-FA3DDDD753AB}" type="parTrans" cxnId="{59729EAE-C962-4849-9B48-8B0A0CCB4A35}">
      <dgm:prSet/>
      <dgm:spPr/>
      <dgm:t>
        <a:bodyPr/>
        <a:lstStyle/>
        <a:p>
          <a:endParaRPr lang="en-IN"/>
        </a:p>
      </dgm:t>
    </dgm:pt>
    <dgm:pt modelId="{A28461EA-E74B-4301-8024-4F855B569584}" type="sibTrans" cxnId="{59729EAE-C962-4849-9B48-8B0A0CCB4A35}">
      <dgm:prSet/>
      <dgm:spPr/>
      <dgm:t>
        <a:bodyPr/>
        <a:lstStyle/>
        <a:p>
          <a:endParaRPr lang="en-IN"/>
        </a:p>
      </dgm:t>
    </dgm:pt>
    <dgm:pt modelId="{BE4C7936-8820-4D69-9E2A-59318DD4170B}">
      <dgm:prSet/>
      <dgm:spPr/>
      <dgm:t>
        <a:bodyPr/>
        <a:lstStyle/>
        <a:p>
          <a:pPr>
            <a:buFont typeface="Arial" panose="020B0604020202020204" pitchFamily="34" charset="0"/>
            <a:buChar char="•"/>
          </a:pPr>
          <a:r>
            <a:rPr lang="en-US" dirty="0"/>
            <a:t>To improve the overall efficiency and accuracy of library operations.</a:t>
          </a:r>
        </a:p>
      </dgm:t>
    </dgm:pt>
    <dgm:pt modelId="{39CAE4AA-C34A-4FAD-9B7F-33E3FE0079F3}" type="parTrans" cxnId="{6F4119CB-2632-4C29-9036-251B697CCF28}">
      <dgm:prSet/>
      <dgm:spPr/>
      <dgm:t>
        <a:bodyPr/>
        <a:lstStyle/>
        <a:p>
          <a:endParaRPr lang="en-IN"/>
        </a:p>
      </dgm:t>
    </dgm:pt>
    <dgm:pt modelId="{9BA74DC1-33E1-4A99-9FF5-4514279C659B}" type="sibTrans" cxnId="{6F4119CB-2632-4C29-9036-251B697CCF28}">
      <dgm:prSet/>
      <dgm:spPr/>
      <dgm:t>
        <a:bodyPr/>
        <a:lstStyle/>
        <a:p>
          <a:endParaRPr lang="en-IN"/>
        </a:p>
      </dgm:t>
    </dgm:pt>
    <dgm:pt modelId="{DEA46ABC-DA70-4790-9B4F-C8AC71EDFDBF}">
      <dgm:prSet/>
      <dgm:spPr/>
      <dgm:t>
        <a:bodyPr/>
        <a:lstStyle/>
        <a:p>
          <a:r>
            <a:rPr lang="en-US" dirty="0"/>
            <a:t>To digitize and automate traditional library management operations. </a:t>
          </a:r>
        </a:p>
      </dgm:t>
    </dgm:pt>
    <dgm:pt modelId="{DD60A98C-6276-477A-A412-9B3FE809DD70}" type="parTrans" cxnId="{2A60C258-C0F2-4E43-A8F2-CDF7AB758DF6}">
      <dgm:prSet/>
      <dgm:spPr/>
    </dgm:pt>
    <dgm:pt modelId="{2C3229C5-1593-4B61-BD45-69834BCEBF16}" type="sibTrans" cxnId="{2A60C258-C0F2-4E43-A8F2-CDF7AB758DF6}">
      <dgm:prSet/>
      <dgm:spPr/>
    </dgm:pt>
    <dgm:pt modelId="{A8020078-4ACB-468C-AD80-C39839A76DA9}" type="pres">
      <dgm:prSet presAssocID="{E37DD7D5-F9CA-4FAE-9C32-AC87FA55B5BA}" presName="linear" presStyleCnt="0">
        <dgm:presLayoutVars>
          <dgm:animLvl val="lvl"/>
          <dgm:resizeHandles val="exact"/>
        </dgm:presLayoutVars>
      </dgm:prSet>
      <dgm:spPr/>
    </dgm:pt>
    <dgm:pt modelId="{64D46B2A-4250-4C43-9E50-3F0279A4CA13}" type="pres">
      <dgm:prSet presAssocID="{E9F90E1C-AD7A-4F1F-BAE5-442812C6E7DE}" presName="parentText" presStyleLbl="node1" presStyleIdx="0" presStyleCnt="1">
        <dgm:presLayoutVars>
          <dgm:chMax val="0"/>
          <dgm:bulletEnabled val="1"/>
        </dgm:presLayoutVars>
      </dgm:prSet>
      <dgm:spPr/>
    </dgm:pt>
    <dgm:pt modelId="{F9737AD6-425F-42A6-983D-BD80F231714C}" type="pres">
      <dgm:prSet presAssocID="{E9F90E1C-AD7A-4F1F-BAE5-442812C6E7DE}" presName="childText" presStyleLbl="revTx" presStyleIdx="0" presStyleCnt="1">
        <dgm:presLayoutVars>
          <dgm:bulletEnabled val="1"/>
        </dgm:presLayoutVars>
      </dgm:prSet>
      <dgm:spPr/>
    </dgm:pt>
  </dgm:ptLst>
  <dgm:cxnLst>
    <dgm:cxn modelId="{262D5C03-799A-4899-9D42-0424745083CE}" type="presOf" srcId="{9AE4A7E2-EC66-4C4F-8E41-73CFCE1920FC}" destId="{F9737AD6-425F-42A6-983D-BD80F231714C}" srcOrd="0" destOrd="3" presId="urn:microsoft.com/office/officeart/2005/8/layout/vList2"/>
    <dgm:cxn modelId="{16D4CD04-3049-4FEC-AD4C-5CA788D4E0D9}" srcId="{E9F90E1C-AD7A-4F1F-BAE5-442812C6E7DE}" destId="{9AE4A7E2-EC66-4C4F-8E41-73CFCE1920FC}" srcOrd="3" destOrd="0" parTransId="{DDBC3BCB-7AA4-4C7B-979F-17EF20FB711B}" sibTransId="{825470B2-2F11-48DD-9BF4-A3877D552727}"/>
    <dgm:cxn modelId="{C69EF30D-75CF-4948-8E0B-836A027A03B3}" type="presOf" srcId="{E1705069-5D12-4C3B-8576-C556A43F6F9A}" destId="{F9737AD6-425F-42A6-983D-BD80F231714C}" srcOrd="0" destOrd="0" presId="urn:microsoft.com/office/officeart/2005/8/layout/vList2"/>
    <dgm:cxn modelId="{455E3B20-990C-4008-8284-A223A8103AFE}" type="presOf" srcId="{40C47E10-0E49-44AD-BAC0-5523EB1FBD65}" destId="{F9737AD6-425F-42A6-983D-BD80F231714C}" srcOrd="0" destOrd="5" presId="urn:microsoft.com/office/officeart/2005/8/layout/vList2"/>
    <dgm:cxn modelId="{78FA622C-D390-4D90-902A-B22EC81B6D70}" srcId="{E9F90E1C-AD7A-4F1F-BAE5-442812C6E7DE}" destId="{40C47E10-0E49-44AD-BAC0-5523EB1FBD65}" srcOrd="5" destOrd="0" parTransId="{69B3BB07-5BCF-4BC9-8FF2-8A26726F95BC}" sibTransId="{427FFEC0-72D7-450D-BE6C-85E5F254CE40}"/>
    <dgm:cxn modelId="{3FF6472C-791E-4D25-8E54-422293D790D8}" srcId="{E9F90E1C-AD7A-4F1F-BAE5-442812C6E7DE}" destId="{00C237D5-353A-4933-B1C2-E38E979A484E}" srcOrd="6" destOrd="0" parTransId="{D3E7F6BD-642C-43F1-BA09-ACA9789A7755}" sibTransId="{9F7F3184-7229-4190-8BF4-0DFDCEE1A783}"/>
    <dgm:cxn modelId="{AF758233-BE65-4D55-9C54-BD03C02F3D15}" type="presOf" srcId="{DEA46ABC-DA70-4790-9B4F-C8AC71EDFDBF}" destId="{F9737AD6-425F-42A6-983D-BD80F231714C}" srcOrd="0" destOrd="1" presId="urn:microsoft.com/office/officeart/2005/8/layout/vList2"/>
    <dgm:cxn modelId="{72CE7D39-A0E9-4FA4-945C-28D7A546EBDE}" srcId="{E9F90E1C-AD7A-4F1F-BAE5-442812C6E7DE}" destId="{F409D39F-5F8A-4415-8FE4-DBDFA15000BE}" srcOrd="4" destOrd="0" parTransId="{307912DC-9D01-4663-9727-97910D7755DF}" sibTransId="{631B4017-9481-484B-B817-F4F8A16C850F}"/>
    <dgm:cxn modelId="{6E415149-BBBB-4D89-940E-22E245CC11DD}" type="presOf" srcId="{00C237D5-353A-4933-B1C2-E38E979A484E}" destId="{F9737AD6-425F-42A6-983D-BD80F231714C}" srcOrd="0" destOrd="6" presId="urn:microsoft.com/office/officeart/2005/8/layout/vList2"/>
    <dgm:cxn modelId="{65C4354D-C94D-4B4C-98B3-6A48FBF53D42}" type="presOf" srcId="{27439A8C-342A-4BB5-8A6C-E24FD916D3DE}" destId="{F9737AD6-425F-42A6-983D-BD80F231714C}" srcOrd="0" destOrd="7" presId="urn:microsoft.com/office/officeart/2005/8/layout/vList2"/>
    <dgm:cxn modelId="{B71EB86D-DDD9-425B-A2B3-DBB282528842}" type="presOf" srcId="{068A3BD0-8A4D-4F87-8923-2684176D42B2}" destId="{F9737AD6-425F-42A6-983D-BD80F231714C}" srcOrd="0" destOrd="2" presId="urn:microsoft.com/office/officeart/2005/8/layout/vList2"/>
    <dgm:cxn modelId="{1E0C826F-9361-4C76-A840-AE6263B2241F}" type="presOf" srcId="{BE4C7936-8820-4D69-9E2A-59318DD4170B}" destId="{F9737AD6-425F-42A6-983D-BD80F231714C}" srcOrd="0" destOrd="9" presId="urn:microsoft.com/office/officeart/2005/8/layout/vList2"/>
    <dgm:cxn modelId="{2D610176-0C95-4DAB-A58B-9531FD368887}" type="presOf" srcId="{E37DD7D5-F9CA-4FAE-9C32-AC87FA55B5BA}" destId="{A8020078-4ACB-468C-AD80-C39839A76DA9}" srcOrd="0" destOrd="0" presId="urn:microsoft.com/office/officeart/2005/8/layout/vList2"/>
    <dgm:cxn modelId="{7C28BE78-4B55-49D9-93C4-2324BB71A3C6}" type="presOf" srcId="{637CB4A6-04D3-49D3-804B-AC621DEA2A5E}" destId="{F9737AD6-425F-42A6-983D-BD80F231714C}" srcOrd="0" destOrd="8" presId="urn:microsoft.com/office/officeart/2005/8/layout/vList2"/>
    <dgm:cxn modelId="{2A60C258-C0F2-4E43-A8F2-CDF7AB758DF6}" srcId="{E9F90E1C-AD7A-4F1F-BAE5-442812C6E7DE}" destId="{DEA46ABC-DA70-4790-9B4F-C8AC71EDFDBF}" srcOrd="1" destOrd="0" parTransId="{DD60A98C-6276-477A-A412-9B3FE809DD70}" sibTransId="{2C3229C5-1593-4B61-BD45-69834BCEBF16}"/>
    <dgm:cxn modelId="{D3224086-9566-4529-B7C1-02507CFCD666}" srcId="{E9F90E1C-AD7A-4F1F-BAE5-442812C6E7DE}" destId="{E1705069-5D12-4C3B-8576-C556A43F6F9A}" srcOrd="0" destOrd="0" parTransId="{44EFE11E-BFCA-42BF-9AA0-E05468434C08}" sibTransId="{EB29271F-9276-4574-99CF-80936543A14B}"/>
    <dgm:cxn modelId="{58F7A297-698B-496A-B4A5-A09915EF2763}" srcId="{E37DD7D5-F9CA-4FAE-9C32-AC87FA55B5BA}" destId="{E9F90E1C-AD7A-4F1F-BAE5-442812C6E7DE}" srcOrd="0" destOrd="0" parTransId="{0C0E602E-361D-4087-BC00-AEDB909AD4C7}" sibTransId="{176EF7D9-7A08-4755-BDB1-AF1707F5BD16}"/>
    <dgm:cxn modelId="{59729EAE-C962-4849-9B48-8B0A0CCB4A35}" srcId="{E9F90E1C-AD7A-4F1F-BAE5-442812C6E7DE}" destId="{637CB4A6-04D3-49D3-804B-AC621DEA2A5E}" srcOrd="8" destOrd="0" parTransId="{8AF02A0B-A532-4CCA-95B9-FA3DDDD753AB}" sibTransId="{A28461EA-E74B-4301-8024-4F855B569584}"/>
    <dgm:cxn modelId="{97843CBC-AA43-4928-B021-47E5E1FA7385}" srcId="{E9F90E1C-AD7A-4F1F-BAE5-442812C6E7DE}" destId="{27439A8C-342A-4BB5-8A6C-E24FD916D3DE}" srcOrd="7" destOrd="0" parTransId="{ED036510-6D3F-47AD-BCE6-40C23E289069}" sibTransId="{37AF69EA-6BE2-4297-81D0-0AE14BFE1AB1}"/>
    <dgm:cxn modelId="{1A3979BD-52CD-41D4-BA9E-504358C7945F}" srcId="{E9F90E1C-AD7A-4F1F-BAE5-442812C6E7DE}" destId="{068A3BD0-8A4D-4F87-8923-2684176D42B2}" srcOrd="2" destOrd="0" parTransId="{EF45F450-AEE7-4949-88E5-B8BF3A1ED845}" sibTransId="{A0630A1E-D7BE-49C4-A83D-71670A559ABD}"/>
    <dgm:cxn modelId="{D56D95C4-5B1F-4264-9361-70298EC8E8C8}" type="presOf" srcId="{E9F90E1C-AD7A-4F1F-BAE5-442812C6E7DE}" destId="{64D46B2A-4250-4C43-9E50-3F0279A4CA13}" srcOrd="0" destOrd="0" presId="urn:microsoft.com/office/officeart/2005/8/layout/vList2"/>
    <dgm:cxn modelId="{6F4119CB-2632-4C29-9036-251B697CCF28}" srcId="{E9F90E1C-AD7A-4F1F-BAE5-442812C6E7DE}" destId="{BE4C7936-8820-4D69-9E2A-59318DD4170B}" srcOrd="9" destOrd="0" parTransId="{39CAE4AA-C34A-4FAD-9B7F-33E3FE0079F3}" sibTransId="{9BA74DC1-33E1-4A99-9FF5-4514279C659B}"/>
    <dgm:cxn modelId="{CC353ADB-BE0C-48C0-AA73-470DEC4CDC19}" type="presOf" srcId="{F409D39F-5F8A-4415-8FE4-DBDFA15000BE}" destId="{F9737AD6-425F-42A6-983D-BD80F231714C}" srcOrd="0" destOrd="4" presId="urn:microsoft.com/office/officeart/2005/8/layout/vList2"/>
    <dgm:cxn modelId="{704202AE-1AAB-4D06-9929-C16A94BE8B04}" type="presParOf" srcId="{A8020078-4ACB-468C-AD80-C39839A76DA9}" destId="{64D46B2A-4250-4C43-9E50-3F0279A4CA13}" srcOrd="0" destOrd="0" presId="urn:microsoft.com/office/officeart/2005/8/layout/vList2"/>
    <dgm:cxn modelId="{FC50C832-CF8F-496B-8F7A-4F261B81DE44}" type="presParOf" srcId="{A8020078-4ACB-468C-AD80-C39839A76DA9}" destId="{F9737AD6-425F-42A6-983D-BD80F231714C}"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06E593-513C-42B2-8434-7EEB36B30063}">
      <dsp:nvSpPr>
        <dsp:cNvPr id="0" name=""/>
        <dsp:cNvSpPr/>
      </dsp:nvSpPr>
      <dsp:spPr>
        <a:xfrm>
          <a:off x="0" y="48806"/>
          <a:ext cx="10515600" cy="540540"/>
        </a:xfrm>
        <a:prstGeom prst="roundRect">
          <a:avLst/>
        </a:prstGeom>
        <a:solidFill>
          <a:schemeClr val="tx1">
            <a:lumMod val="85000"/>
            <a:lumOff val="1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Scope :</a:t>
          </a:r>
          <a:endParaRPr lang="en-US" sz="2200" kern="1200"/>
        </a:p>
      </dsp:txBody>
      <dsp:txXfrm>
        <a:off x="26387" y="75193"/>
        <a:ext cx="10462826" cy="487766"/>
      </dsp:txXfrm>
    </dsp:sp>
    <dsp:sp modelId="{16B80D7C-6B7C-4630-A80A-F8C7ADF57B3F}">
      <dsp:nvSpPr>
        <dsp:cNvPr id="0" name=""/>
        <dsp:cNvSpPr/>
      </dsp:nvSpPr>
      <dsp:spPr>
        <a:xfrm>
          <a:off x="0" y="589346"/>
          <a:ext cx="10515600" cy="3278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7940" rIns="156464" bIns="27940" numCol="1" spcCol="1270" anchor="t" anchorCtr="0">
          <a:noAutofit/>
        </a:bodyPr>
        <a:lstStyle/>
        <a:p>
          <a:pPr marL="171450" lvl="1" indent="-171450" algn="l" defTabSz="755650">
            <a:lnSpc>
              <a:spcPct val="90000"/>
            </a:lnSpc>
            <a:spcBef>
              <a:spcPct val="0"/>
            </a:spcBef>
            <a:spcAft>
              <a:spcPct val="20000"/>
            </a:spcAft>
            <a:buChar char="•"/>
          </a:pPr>
          <a:endParaRPr lang="en-US" sz="1700" kern="1200" dirty="0"/>
        </a:p>
        <a:p>
          <a:pPr marL="171450" lvl="1" indent="-171450" algn="l" defTabSz="755650">
            <a:lnSpc>
              <a:spcPct val="90000"/>
            </a:lnSpc>
            <a:spcBef>
              <a:spcPct val="0"/>
            </a:spcBef>
            <a:spcAft>
              <a:spcPct val="20000"/>
            </a:spcAft>
            <a:buChar char="•"/>
          </a:pPr>
          <a:r>
            <a:rPr lang="en-US" sz="1700" kern="1200" dirty="0"/>
            <a:t>Book Management – Add, update, delete, and manage book details. </a:t>
          </a:r>
        </a:p>
        <a:p>
          <a:pPr marL="171450" lvl="1" indent="-171450" algn="l" defTabSz="755650">
            <a:lnSpc>
              <a:spcPct val="90000"/>
            </a:lnSpc>
            <a:spcBef>
              <a:spcPct val="0"/>
            </a:spcBef>
            <a:spcAft>
              <a:spcPct val="20000"/>
            </a:spcAft>
            <a:buFont typeface="Arial" panose="020B0604020202020204" pitchFamily="34" charset="0"/>
            <a:buChar char="•"/>
          </a:pPr>
          <a:r>
            <a:rPr lang="en-US" sz="1700" kern="1200"/>
            <a:t>Category Management – Organize books into different categories. </a:t>
          </a:r>
        </a:p>
        <a:p>
          <a:pPr marL="171450" lvl="1" indent="-171450" algn="l" defTabSz="755650">
            <a:lnSpc>
              <a:spcPct val="90000"/>
            </a:lnSpc>
            <a:spcBef>
              <a:spcPct val="0"/>
            </a:spcBef>
            <a:spcAft>
              <a:spcPct val="20000"/>
            </a:spcAft>
            <a:buFont typeface="Arial" panose="020B0604020202020204" pitchFamily="34" charset="0"/>
            <a:buChar char="•"/>
          </a:pPr>
          <a:r>
            <a:rPr lang="en-US" sz="1700" kern="1200"/>
            <a:t>Member Management – Manage student/member registration and information. </a:t>
          </a:r>
        </a:p>
        <a:p>
          <a:pPr marL="171450" lvl="1" indent="-171450" algn="l" defTabSz="755650">
            <a:lnSpc>
              <a:spcPct val="90000"/>
            </a:lnSpc>
            <a:spcBef>
              <a:spcPct val="0"/>
            </a:spcBef>
            <a:spcAft>
              <a:spcPct val="20000"/>
            </a:spcAft>
            <a:buFont typeface="Arial" panose="020B0604020202020204" pitchFamily="34" charset="0"/>
            <a:buChar char="•"/>
          </a:pPr>
          <a:r>
            <a:rPr lang="en-US" sz="1700" kern="1200" dirty="0"/>
            <a:t>Inventory Management – Track total, available, issued, damaged, and lost books. </a:t>
          </a:r>
        </a:p>
        <a:p>
          <a:pPr marL="171450" lvl="1" indent="-171450" algn="l" defTabSz="755650">
            <a:lnSpc>
              <a:spcPct val="90000"/>
            </a:lnSpc>
            <a:spcBef>
              <a:spcPct val="0"/>
            </a:spcBef>
            <a:spcAft>
              <a:spcPct val="20000"/>
            </a:spcAft>
            <a:buFont typeface="Arial" panose="020B0604020202020204" pitchFamily="34" charset="0"/>
            <a:buChar char="•"/>
          </a:pPr>
          <a:r>
            <a:rPr lang="en-US" sz="1700" kern="1200"/>
            <a:t>Book Search &amp; Discovery – Search and filter books by title, author, ISBN, and category. </a:t>
          </a:r>
        </a:p>
        <a:p>
          <a:pPr marL="171450" lvl="1" indent="-171450" algn="l" defTabSz="755650">
            <a:lnSpc>
              <a:spcPct val="90000"/>
            </a:lnSpc>
            <a:spcBef>
              <a:spcPct val="0"/>
            </a:spcBef>
            <a:spcAft>
              <a:spcPct val="20000"/>
            </a:spcAft>
            <a:buFont typeface="Arial" panose="020B0604020202020204" pitchFamily="34" charset="0"/>
            <a:buChar char="•"/>
          </a:pPr>
          <a:r>
            <a:rPr lang="en-US" sz="1700" kern="1200"/>
            <a:t>Book Issue &amp; Return – Manage book issuing, due dates, and returns. </a:t>
          </a:r>
        </a:p>
        <a:p>
          <a:pPr marL="171450" lvl="1" indent="-171450" algn="l" defTabSz="755650">
            <a:lnSpc>
              <a:spcPct val="90000"/>
            </a:lnSpc>
            <a:spcBef>
              <a:spcPct val="0"/>
            </a:spcBef>
            <a:spcAft>
              <a:spcPct val="20000"/>
            </a:spcAft>
            <a:buFont typeface="Arial" panose="020B0604020202020204" pitchFamily="34" charset="0"/>
            <a:buChar char="•"/>
          </a:pPr>
          <a:r>
            <a:rPr lang="en-US" sz="1700" kern="1200" dirty="0"/>
            <a:t>Overdue &amp; Fine Management – Track overdue books and applicable fines. </a:t>
          </a:r>
        </a:p>
        <a:p>
          <a:pPr marL="171450" lvl="1" indent="-171450" algn="l" defTabSz="755650">
            <a:lnSpc>
              <a:spcPct val="90000"/>
            </a:lnSpc>
            <a:spcBef>
              <a:spcPct val="0"/>
            </a:spcBef>
            <a:spcAft>
              <a:spcPct val="20000"/>
            </a:spcAft>
            <a:buFont typeface="Arial" panose="020B0604020202020204" pitchFamily="34" charset="0"/>
            <a:buChar char="•"/>
          </a:pPr>
          <a:r>
            <a:rPr lang="en-US" sz="1700" kern="1200"/>
            <a:t>Borrowing History – Allow students to view current and previous borrowed books. </a:t>
          </a:r>
        </a:p>
        <a:p>
          <a:pPr marL="171450" lvl="1" indent="-171450" algn="l" defTabSz="755650">
            <a:lnSpc>
              <a:spcPct val="90000"/>
            </a:lnSpc>
            <a:spcBef>
              <a:spcPct val="0"/>
            </a:spcBef>
            <a:spcAft>
              <a:spcPct val="20000"/>
            </a:spcAft>
            <a:buFont typeface="Arial" panose="020B0604020202020204" pitchFamily="34" charset="0"/>
            <a:buChar char="•"/>
          </a:pPr>
          <a:r>
            <a:rPr lang="en-US" sz="1700" kern="1200"/>
            <a:t>Role-Based Access – Provide separate access and functionality for Admins and Students/Members. </a:t>
          </a:r>
        </a:p>
        <a:p>
          <a:pPr marL="171450" lvl="1" indent="-171450" algn="l" defTabSz="755650">
            <a:lnSpc>
              <a:spcPct val="90000"/>
            </a:lnSpc>
            <a:spcBef>
              <a:spcPct val="0"/>
            </a:spcBef>
            <a:spcAft>
              <a:spcPct val="20000"/>
            </a:spcAft>
            <a:buFont typeface="Arial" panose="020B0604020202020204" pitchFamily="34" charset="0"/>
            <a:buChar char="•"/>
          </a:pPr>
          <a:r>
            <a:rPr lang="en-US" sz="1700" kern="1200" dirty="0"/>
            <a:t>Centralized Management – Maintain library records through a single digital platform.</a:t>
          </a:r>
        </a:p>
      </dsp:txBody>
      <dsp:txXfrm>
        <a:off x="0" y="589346"/>
        <a:ext cx="10515600" cy="32788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D46B2A-4250-4C43-9E50-3F0279A4CA13}">
      <dsp:nvSpPr>
        <dsp:cNvPr id="0" name=""/>
        <dsp:cNvSpPr/>
      </dsp:nvSpPr>
      <dsp:spPr>
        <a:xfrm>
          <a:off x="0" y="54228"/>
          <a:ext cx="10515600" cy="515970"/>
        </a:xfrm>
        <a:prstGeom prst="roundRect">
          <a:avLst/>
        </a:prstGeom>
        <a:solidFill>
          <a:schemeClr val="tx1">
            <a:lumMod val="85000"/>
            <a:lumOff val="15000"/>
          </a:schemeClr>
        </a:solidFill>
        <a:ln w="1905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a:t>Objectives :</a:t>
          </a:r>
          <a:endParaRPr lang="en-US" sz="2100" kern="1200"/>
        </a:p>
      </dsp:txBody>
      <dsp:txXfrm>
        <a:off x="25188" y="79416"/>
        <a:ext cx="10465224" cy="465594"/>
      </dsp:txXfrm>
    </dsp:sp>
    <dsp:sp modelId="{F9737AD6-425F-42A6-983D-BD80F231714C}">
      <dsp:nvSpPr>
        <dsp:cNvPr id="0" name=""/>
        <dsp:cNvSpPr/>
      </dsp:nvSpPr>
      <dsp:spPr>
        <a:xfrm>
          <a:off x="0" y="570198"/>
          <a:ext cx="10515600" cy="2738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6670" rIns="149352" bIns="26670" numCol="1" spcCol="1270" anchor="t" anchorCtr="0">
          <a:noAutofit/>
        </a:bodyPr>
        <a:lstStyle/>
        <a:p>
          <a:pPr marL="171450" lvl="1" indent="-171450" algn="l" defTabSz="711200">
            <a:lnSpc>
              <a:spcPct val="90000"/>
            </a:lnSpc>
            <a:spcBef>
              <a:spcPct val="0"/>
            </a:spcBef>
            <a:spcAft>
              <a:spcPct val="20000"/>
            </a:spcAft>
            <a:buChar char="•"/>
          </a:pPr>
          <a:endParaRPr lang="en-US" sz="1600" kern="1200" dirty="0"/>
        </a:p>
        <a:p>
          <a:pPr marL="171450" lvl="1" indent="-171450" algn="l" defTabSz="711200">
            <a:lnSpc>
              <a:spcPct val="90000"/>
            </a:lnSpc>
            <a:spcBef>
              <a:spcPct val="0"/>
            </a:spcBef>
            <a:spcAft>
              <a:spcPct val="20000"/>
            </a:spcAft>
            <a:buChar char="•"/>
          </a:pPr>
          <a:r>
            <a:rPr lang="en-US" sz="1600" kern="1200" dirty="0"/>
            <a:t>To digitize and automate traditional library management operations. </a:t>
          </a:r>
        </a:p>
        <a:p>
          <a:pPr marL="171450" lvl="1" indent="-171450" algn="l" defTabSz="711200">
            <a:lnSpc>
              <a:spcPct val="90000"/>
            </a:lnSpc>
            <a:spcBef>
              <a:spcPct val="0"/>
            </a:spcBef>
            <a:spcAft>
              <a:spcPct val="20000"/>
            </a:spcAft>
            <a:buFont typeface="Arial" panose="020B0604020202020204" pitchFamily="34" charset="0"/>
            <a:buChar char="•"/>
          </a:pPr>
          <a:r>
            <a:rPr lang="en-US" sz="1600" kern="1200"/>
            <a:t>To provide a centralized system for managing books, members, and inventory. </a:t>
          </a:r>
        </a:p>
        <a:p>
          <a:pPr marL="171450" lvl="1" indent="-171450" algn="l" defTabSz="711200">
            <a:lnSpc>
              <a:spcPct val="90000"/>
            </a:lnSpc>
            <a:spcBef>
              <a:spcPct val="0"/>
            </a:spcBef>
            <a:spcAft>
              <a:spcPct val="20000"/>
            </a:spcAft>
            <a:buFont typeface="Arial" panose="020B0604020202020204" pitchFamily="34" charset="0"/>
            <a:buChar char="•"/>
          </a:pPr>
          <a:r>
            <a:rPr lang="en-US" sz="1600" kern="1200"/>
            <a:t>To make book searching and discovery faster and easier. </a:t>
          </a:r>
        </a:p>
        <a:p>
          <a:pPr marL="171450" lvl="1" indent="-171450" algn="l" defTabSz="711200">
            <a:lnSpc>
              <a:spcPct val="90000"/>
            </a:lnSpc>
            <a:spcBef>
              <a:spcPct val="0"/>
            </a:spcBef>
            <a:spcAft>
              <a:spcPct val="20000"/>
            </a:spcAft>
            <a:buFont typeface="Arial" panose="020B0604020202020204" pitchFamily="34" charset="0"/>
            <a:buChar char="•"/>
          </a:pPr>
          <a:r>
            <a:rPr lang="en-US" sz="1600" kern="1200"/>
            <a:t>To efficiently manage book issue, return, due dates, and overdue records. </a:t>
          </a:r>
        </a:p>
        <a:p>
          <a:pPr marL="171450" lvl="1" indent="-171450" algn="l" defTabSz="711200">
            <a:lnSpc>
              <a:spcPct val="90000"/>
            </a:lnSpc>
            <a:spcBef>
              <a:spcPct val="0"/>
            </a:spcBef>
            <a:spcAft>
              <a:spcPct val="20000"/>
            </a:spcAft>
            <a:buFont typeface="Arial" panose="020B0604020202020204" pitchFamily="34" charset="0"/>
            <a:buChar char="•"/>
          </a:pPr>
          <a:r>
            <a:rPr lang="en-US" sz="1600" kern="1200"/>
            <a:t>To maintain accurate inventory and book availability information. </a:t>
          </a:r>
        </a:p>
        <a:p>
          <a:pPr marL="171450" lvl="1" indent="-171450" algn="l" defTabSz="711200">
            <a:lnSpc>
              <a:spcPct val="90000"/>
            </a:lnSpc>
            <a:spcBef>
              <a:spcPct val="0"/>
            </a:spcBef>
            <a:spcAft>
              <a:spcPct val="20000"/>
            </a:spcAft>
            <a:buFont typeface="Arial" panose="020B0604020202020204" pitchFamily="34" charset="0"/>
            <a:buChar char="•"/>
          </a:pPr>
          <a:r>
            <a:rPr lang="en-US" sz="1600" kern="1200"/>
            <a:t>To track fines and borrowing history effectively. </a:t>
          </a:r>
        </a:p>
        <a:p>
          <a:pPr marL="171450" lvl="1" indent="-171450" algn="l" defTabSz="711200">
            <a:lnSpc>
              <a:spcPct val="90000"/>
            </a:lnSpc>
            <a:spcBef>
              <a:spcPct val="0"/>
            </a:spcBef>
            <a:spcAft>
              <a:spcPct val="20000"/>
            </a:spcAft>
            <a:buFont typeface="Arial" panose="020B0604020202020204" pitchFamily="34" charset="0"/>
            <a:buChar char="•"/>
          </a:pPr>
          <a:r>
            <a:rPr lang="en-US" sz="1600" kern="1200"/>
            <a:t>To provide secure role-based access for Admins and Students/Members. </a:t>
          </a:r>
        </a:p>
        <a:p>
          <a:pPr marL="171450" lvl="1" indent="-171450" algn="l" defTabSz="711200">
            <a:lnSpc>
              <a:spcPct val="90000"/>
            </a:lnSpc>
            <a:spcBef>
              <a:spcPct val="0"/>
            </a:spcBef>
            <a:spcAft>
              <a:spcPct val="20000"/>
            </a:spcAft>
            <a:buFont typeface="Arial" panose="020B0604020202020204" pitchFamily="34" charset="0"/>
            <a:buChar char="•"/>
          </a:pPr>
          <a:r>
            <a:rPr lang="en-US" sz="1600" kern="1200"/>
            <a:t>To reduce manual paperwork and administrative effort. </a:t>
          </a:r>
        </a:p>
        <a:p>
          <a:pPr marL="171450" lvl="1" indent="-171450" algn="l" defTabSz="711200">
            <a:lnSpc>
              <a:spcPct val="90000"/>
            </a:lnSpc>
            <a:spcBef>
              <a:spcPct val="0"/>
            </a:spcBef>
            <a:spcAft>
              <a:spcPct val="20000"/>
            </a:spcAft>
            <a:buFont typeface="Arial" panose="020B0604020202020204" pitchFamily="34" charset="0"/>
            <a:buChar char="•"/>
          </a:pPr>
          <a:r>
            <a:rPr lang="en-US" sz="1600" kern="1200" dirty="0"/>
            <a:t>To improve the overall efficiency and accuracy of library operations.</a:t>
          </a:r>
        </a:p>
      </dsp:txBody>
      <dsp:txXfrm>
        <a:off x="0" y="570198"/>
        <a:ext cx="10515600" cy="273861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BAF4D-668B-8D9A-CEDD-E5225C6760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0569047-1B46-551E-6EEA-75C0244CE7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832F40-F6A5-139D-2705-C0B204CE01DF}"/>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5" name="Footer Placeholder 4">
            <a:extLst>
              <a:ext uri="{FF2B5EF4-FFF2-40B4-BE49-F238E27FC236}">
                <a16:creationId xmlns:a16="http://schemas.microsoft.com/office/drawing/2014/main" id="{081039F7-F00F-71F0-CE53-D9365DC3D1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8C55C0-FBBA-618E-D331-23053EF61994}"/>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2734628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5BF67-45E7-2710-3D77-9EA87A703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4970A7-C6BB-4541-4616-04FFC69EE5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4E0CF3-9EC4-0F96-6458-212DA17633D9}"/>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5" name="Footer Placeholder 4">
            <a:extLst>
              <a:ext uri="{FF2B5EF4-FFF2-40B4-BE49-F238E27FC236}">
                <a16:creationId xmlns:a16="http://schemas.microsoft.com/office/drawing/2014/main" id="{71EADAFA-C057-7E70-334B-3FD38A70DF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2DD636-4823-89EE-ED13-89808D6D27B3}"/>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46189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2EB59-FCCF-B72F-819D-C0E7F51EF6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18A5F21-9748-B6A9-6AD8-C4D26A0D37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0D1CCD-6CEB-8334-5A0A-6DF767932385}"/>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5" name="Footer Placeholder 4">
            <a:extLst>
              <a:ext uri="{FF2B5EF4-FFF2-40B4-BE49-F238E27FC236}">
                <a16:creationId xmlns:a16="http://schemas.microsoft.com/office/drawing/2014/main" id="{8B61CBF3-3FAB-D39D-EBEF-6FAA6D4426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A5C1E4-E793-F877-0CD7-2195D68E7951}"/>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426595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70B26-0FA4-FA79-65B5-741894CE12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2C30C2-801E-85B5-93FD-1F1000DE4E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8DBDF83-3C12-5E0E-0C9B-CAC60549BD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20ADA62-7B18-5E28-15E7-DE68E94FCC16}"/>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6" name="Footer Placeholder 5">
            <a:extLst>
              <a:ext uri="{FF2B5EF4-FFF2-40B4-BE49-F238E27FC236}">
                <a16:creationId xmlns:a16="http://schemas.microsoft.com/office/drawing/2014/main" id="{E8B1C53E-00F4-77A7-3F41-A8AEF830AB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57F851-0540-7E87-1D66-38FAECF2482C}"/>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1805037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8B0A2-8A89-8500-856C-674AEA9583C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9F7B32F-C0B5-6C76-7F9C-88A6472A74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8A3802-9963-CBEA-9389-6788985EA5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2E18445-9B94-F1A0-AEA7-E38022A223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BE4125-7235-CCE0-C598-27010055EB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0EA2582-0788-8B50-BD54-A2A60A5101FD}"/>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8" name="Footer Placeholder 7">
            <a:extLst>
              <a:ext uri="{FF2B5EF4-FFF2-40B4-BE49-F238E27FC236}">
                <a16:creationId xmlns:a16="http://schemas.microsoft.com/office/drawing/2014/main" id="{B1089B81-58ED-2B10-0B3E-502931506F9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7ADCD3F-C83E-F299-01E2-039D5FD33F85}"/>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727802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8BB94-BB8A-E5BC-6CD2-EC7D5B606A8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0410049-931C-7FD1-0F37-F2DDA4A30F7E}"/>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4" name="Footer Placeholder 3">
            <a:extLst>
              <a:ext uri="{FF2B5EF4-FFF2-40B4-BE49-F238E27FC236}">
                <a16:creationId xmlns:a16="http://schemas.microsoft.com/office/drawing/2014/main" id="{131B6849-E482-6A1B-84FA-8D9942EB14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EB99767-39A5-D040-8E05-EB82CC5D173D}"/>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753688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78D3DD-239F-148D-9886-9583575610A4}"/>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3" name="Footer Placeholder 2">
            <a:extLst>
              <a:ext uri="{FF2B5EF4-FFF2-40B4-BE49-F238E27FC236}">
                <a16:creationId xmlns:a16="http://schemas.microsoft.com/office/drawing/2014/main" id="{63B4C401-FACD-BB25-F99A-1C1E2536EA8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7DAA915-6C86-2858-A973-7E3007FAE71E}"/>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1469492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E0566-1B3A-EE74-1857-D02CD76281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5384904-968E-1E4E-D955-14039CC3F3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A4F3FE3-759E-A4F8-56DB-8715B3ECBC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C83B59-D35A-F196-649B-F9BB8B89082C}"/>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6" name="Footer Placeholder 5">
            <a:extLst>
              <a:ext uri="{FF2B5EF4-FFF2-40B4-BE49-F238E27FC236}">
                <a16:creationId xmlns:a16="http://schemas.microsoft.com/office/drawing/2014/main" id="{B7387A92-B47B-5433-56AF-E18534EF51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D09FE0-465F-B891-4514-B6BAFED5B57E}"/>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1649959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2CC0B-235A-9217-8D5D-63DDCD74FA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BDC0735-DC8E-3657-C06E-F5E9F828C7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88A37D5-94E0-9C98-E891-D7E84284DE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35F9A0-07D1-65FC-81CF-E4A5C6AE47AE}"/>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6" name="Footer Placeholder 5">
            <a:extLst>
              <a:ext uri="{FF2B5EF4-FFF2-40B4-BE49-F238E27FC236}">
                <a16:creationId xmlns:a16="http://schemas.microsoft.com/office/drawing/2014/main" id="{5F3E15D2-481D-8B95-0727-52556FF230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832436-E2D2-7173-57C9-7A85B5132F61}"/>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1364188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265B-EA03-7A85-D4C1-A8B6B52BC44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1C0B93-DA77-BB46-A7BC-2F00C3A136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3B40D1-64A2-AB5F-265A-F28D2351274F}"/>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5" name="Footer Placeholder 4">
            <a:extLst>
              <a:ext uri="{FF2B5EF4-FFF2-40B4-BE49-F238E27FC236}">
                <a16:creationId xmlns:a16="http://schemas.microsoft.com/office/drawing/2014/main" id="{551374D0-BC6A-E1E6-A56B-BDE10E8C92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1891B3-07F6-12C9-69A6-CCAF8F7419B0}"/>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3766154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32818F-C128-B717-A922-F13B7F13DF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B51187-0403-89F0-6AE3-35E8A64A8A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27E260-469C-AA90-5CF4-D210B87F2624}"/>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5" name="Footer Placeholder 4">
            <a:extLst>
              <a:ext uri="{FF2B5EF4-FFF2-40B4-BE49-F238E27FC236}">
                <a16:creationId xmlns:a16="http://schemas.microsoft.com/office/drawing/2014/main" id="{8BAFD076-B770-1272-DA73-0471B50E55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B5F3F3-BC1F-1793-3058-C9AB52212570}"/>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261887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6EF4BA-37E1-3938-351E-28A4FC7E2F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31A32F-D605-36AF-DDA5-8F21D1B2DA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338105-128A-AB13-3BCC-BEFFCDA552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70A078E-4512-48BE-9DFC-B3F0E1E23978}" type="datetimeFigureOut">
              <a:rPr lang="en-IN" smtClean="0"/>
              <a:t>15-09-2026</a:t>
            </a:fld>
            <a:endParaRPr lang="en-IN"/>
          </a:p>
        </p:txBody>
      </p:sp>
      <p:sp>
        <p:nvSpPr>
          <p:cNvPr id="5" name="Footer Placeholder 4">
            <a:extLst>
              <a:ext uri="{FF2B5EF4-FFF2-40B4-BE49-F238E27FC236}">
                <a16:creationId xmlns:a16="http://schemas.microsoft.com/office/drawing/2014/main" id="{D79A3802-43BB-286F-017F-5020ED8D99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EFA284-46A0-7E5A-F05F-CB82F3F135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BBCC93-9FE6-4CFF-98D3-560B83B42BEF}" type="slidenum">
              <a:rPr lang="en-IN" smtClean="0"/>
              <a:t>‹#›</a:t>
            </a:fld>
            <a:endParaRPr lang="en-IN"/>
          </a:p>
        </p:txBody>
      </p:sp>
    </p:spTree>
    <p:extLst>
      <p:ext uri="{BB962C8B-B14F-4D97-AF65-F5344CB8AC3E}">
        <p14:creationId xmlns:p14="http://schemas.microsoft.com/office/powerpoint/2010/main" val="42221538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0E07E-AB59-0D01-76AC-68672B9601DD}"/>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431139F3-EB8E-D706-B121-4F11703D9B9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813164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17575DF4-3046-EA1E-E2D6-987918D1C9D8}"/>
              </a:ext>
            </a:extLst>
          </p:cNvPr>
          <p:cNvSpPr txBox="1"/>
          <p:nvPr/>
        </p:nvSpPr>
        <p:spPr>
          <a:xfrm>
            <a:off x="4275571" y="2998113"/>
            <a:ext cx="3868615" cy="861774"/>
          </a:xfrm>
          <a:prstGeom prst="rect">
            <a:avLst/>
          </a:prstGeom>
          <a:noFill/>
        </p:spPr>
        <p:txBody>
          <a:bodyPr wrap="square" rtlCol="0">
            <a:spAutoFit/>
          </a:bodyPr>
          <a:lstStyle/>
          <a:p>
            <a:pPr algn="ctr"/>
            <a:r>
              <a:rPr lang="en-US" sz="5000" dirty="0" err="1">
                <a:latin typeface="Times New Roman" panose="02020603050405020304" pitchFamily="18" charset="0"/>
                <a:ea typeface="Microsoft Yi Baiti" panose="03000500000000000000" pitchFamily="66" charset="0"/>
                <a:cs typeface="Times New Roman" panose="02020603050405020304" pitchFamily="18" charset="0"/>
              </a:rPr>
              <a:t>PustakSetu</a:t>
            </a:r>
            <a:endParaRPr lang="en-US" sz="5000" dirty="0">
              <a:latin typeface="Times New Roman" panose="02020603050405020304" pitchFamily="18" charset="0"/>
              <a:ea typeface="Microsoft Yi Baiti" panose="03000500000000000000" pitchFamily="66" charset="0"/>
              <a:cs typeface="Times New Roman" panose="02020603050405020304" pitchFamily="18" charset="0"/>
            </a:endParaRPr>
          </a:p>
        </p:txBody>
      </p:sp>
      <p:sp>
        <p:nvSpPr>
          <p:cNvPr id="29" name="TextBox 28">
            <a:extLst>
              <a:ext uri="{FF2B5EF4-FFF2-40B4-BE49-F238E27FC236}">
                <a16:creationId xmlns:a16="http://schemas.microsoft.com/office/drawing/2014/main" id="{E0EA035B-CECD-01C7-9D66-9EAE43D993A5}"/>
              </a:ext>
            </a:extLst>
          </p:cNvPr>
          <p:cNvSpPr txBox="1"/>
          <p:nvPr/>
        </p:nvSpPr>
        <p:spPr>
          <a:xfrm>
            <a:off x="3334541" y="3859887"/>
            <a:ext cx="5750673" cy="369332"/>
          </a:xfrm>
          <a:prstGeom prst="rect">
            <a:avLst/>
          </a:prstGeom>
          <a:noFill/>
        </p:spPr>
        <p:txBody>
          <a:bodyPr wrap="square" rtlCol="0">
            <a:spAutoFit/>
          </a:bodyPr>
          <a:lstStyle/>
          <a:p>
            <a:pPr algn="ctr"/>
            <a:r>
              <a:rPr lang="en-US" spc="300" dirty="0" err="1">
                <a:latin typeface="Javanese Text" panose="02000000000000000000" pitchFamily="2" charset="0"/>
              </a:rPr>
              <a:t>Liabrary</a:t>
            </a:r>
            <a:r>
              <a:rPr lang="en-US" spc="300" dirty="0">
                <a:latin typeface="Javanese Text" panose="02000000000000000000" pitchFamily="2" charset="0"/>
              </a:rPr>
              <a:t> Management System</a:t>
            </a:r>
          </a:p>
        </p:txBody>
      </p:sp>
      <p:pic>
        <p:nvPicPr>
          <p:cNvPr id="27" name="Picture 26">
            <a:extLst>
              <a:ext uri="{FF2B5EF4-FFF2-40B4-BE49-F238E27FC236}">
                <a16:creationId xmlns:a16="http://schemas.microsoft.com/office/drawing/2014/main" id="{B38408CF-478D-F875-8522-5161F8AB5C30}"/>
              </a:ext>
            </a:extLst>
          </p:cNvPr>
          <p:cNvPicPr>
            <a:picLocks noChangeAspect="1"/>
          </p:cNvPicPr>
          <p:nvPr/>
        </p:nvPicPr>
        <p:blipFill>
          <a:blip r:embed="rId2"/>
          <a:stretch>
            <a:fillRect/>
          </a:stretch>
        </p:blipFill>
        <p:spPr>
          <a:xfrm>
            <a:off x="1566086" y="573459"/>
            <a:ext cx="9059828" cy="1862710"/>
          </a:xfrm>
          <a:prstGeom prst="rect">
            <a:avLst/>
          </a:prstGeom>
        </p:spPr>
      </p:pic>
      <p:sp>
        <p:nvSpPr>
          <p:cNvPr id="4" name="TextBox 3">
            <a:extLst>
              <a:ext uri="{FF2B5EF4-FFF2-40B4-BE49-F238E27FC236}">
                <a16:creationId xmlns:a16="http://schemas.microsoft.com/office/drawing/2014/main" id="{351CD91A-B592-3AFA-BA22-1345A635E51A}"/>
              </a:ext>
            </a:extLst>
          </p:cNvPr>
          <p:cNvSpPr txBox="1"/>
          <p:nvPr/>
        </p:nvSpPr>
        <p:spPr>
          <a:xfrm>
            <a:off x="1091324" y="4689987"/>
            <a:ext cx="4730356" cy="1704569"/>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Submitted By :</a:t>
            </a:r>
          </a:p>
          <a:p>
            <a:pPr>
              <a:lnSpc>
                <a:spcPct val="150000"/>
              </a:lnSpc>
            </a:pPr>
            <a:r>
              <a:rPr lang="en-US" dirty="0">
                <a:latin typeface="Times New Roman" panose="02020603050405020304" pitchFamily="18" charset="0"/>
                <a:cs typeface="Times New Roman" panose="02020603050405020304" pitchFamily="18" charset="0"/>
              </a:rPr>
              <a:t>STD 1 name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STD 2 name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STD 3 name</a:t>
            </a:r>
            <a:endParaRPr lang="en-US"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18EA790-5A88-4FE0-1D66-E8574D1FAADF}"/>
              </a:ext>
            </a:extLst>
          </p:cNvPr>
          <p:cNvSpPr txBox="1"/>
          <p:nvPr/>
        </p:nvSpPr>
        <p:spPr>
          <a:xfrm>
            <a:off x="8445967" y="4689987"/>
            <a:ext cx="2654709" cy="873572"/>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Project Guided By :</a:t>
            </a:r>
          </a:p>
          <a:p>
            <a:pPr>
              <a:lnSpc>
                <a:spcPct val="150000"/>
              </a:lnSpc>
            </a:pPr>
            <a:r>
              <a:rPr lang="en-US" dirty="0">
                <a:latin typeface="Times New Roman" panose="02020603050405020304" pitchFamily="18" charset="0"/>
                <a:cs typeface="Times New Roman" panose="02020603050405020304" pitchFamily="18" charset="0"/>
              </a:rPr>
              <a:t>Mrs. Minal Desai</a:t>
            </a:r>
          </a:p>
        </p:txBody>
      </p:sp>
    </p:spTree>
    <p:extLst>
      <p:ext uri="{BB962C8B-B14F-4D97-AF65-F5344CB8AC3E}">
        <p14:creationId xmlns:p14="http://schemas.microsoft.com/office/powerpoint/2010/main" val="4006758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1DFE3-3646-6E09-AE6B-C640AD594C14}"/>
              </a:ext>
            </a:extLst>
          </p:cNvPr>
          <p:cNvSpPr>
            <a:spLocks noGrp="1"/>
          </p:cNvSpPr>
          <p:nvPr>
            <p:ph type="title"/>
          </p:nvPr>
        </p:nvSpPr>
        <p:spPr>
          <a:xfrm>
            <a:off x="838200" y="453616"/>
            <a:ext cx="10515600" cy="618101"/>
          </a:xfrm>
        </p:spPr>
        <p:txBody>
          <a:bodyPr>
            <a:normAutofit fontScale="90000"/>
          </a:bodyPr>
          <a:lstStyle/>
          <a:p>
            <a:r>
              <a:rPr lang="en-US">
                <a:latin typeface="Times New Roman" panose="02020603050405020304" pitchFamily="18" charset="0"/>
                <a:cs typeface="Times New Roman" panose="02020603050405020304" pitchFamily="18" charset="0"/>
              </a:rPr>
              <a:t>Table Content</a:t>
            </a:r>
            <a:endParaRPr lang="en-US"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744EDB27-2351-DC53-DAE8-9A2953DD8B03}"/>
              </a:ext>
            </a:extLst>
          </p:cNvPr>
          <p:cNvGraphicFramePr>
            <a:graphicFrameLocks noGrp="1"/>
          </p:cNvGraphicFramePr>
          <p:nvPr/>
        </p:nvGraphicFramePr>
        <p:xfrm>
          <a:off x="876000" y="1314456"/>
          <a:ext cx="10440000" cy="4938855"/>
        </p:xfrm>
        <a:graphic>
          <a:graphicData uri="http://schemas.openxmlformats.org/drawingml/2006/table">
            <a:tbl>
              <a:tblPr firstRow="1" bandRow="1"/>
              <a:tblGrid>
                <a:gridCol w="1225762">
                  <a:extLst>
                    <a:ext uri="{9D8B030D-6E8A-4147-A177-3AD203B41FA5}">
                      <a16:colId xmlns:a16="http://schemas.microsoft.com/office/drawing/2014/main" val="3235499888"/>
                    </a:ext>
                  </a:extLst>
                </a:gridCol>
                <a:gridCol w="9214238">
                  <a:extLst>
                    <a:ext uri="{9D8B030D-6E8A-4147-A177-3AD203B41FA5}">
                      <a16:colId xmlns:a16="http://schemas.microsoft.com/office/drawing/2014/main" val="2987379311"/>
                    </a:ext>
                  </a:extLst>
                </a:gridCol>
              </a:tblGrid>
              <a:tr h="476765">
                <a:tc>
                  <a:txBody>
                    <a:bodyPr/>
                    <a:lstStyle/>
                    <a:p>
                      <a:pPr algn="ctr"/>
                      <a:r>
                        <a:rPr lang="en-US" sz="2000" b="1" dirty="0">
                          <a:latin typeface="Times New Roman" panose="02020603050405020304" pitchFamily="18" charset="0"/>
                          <a:cs typeface="Times New Roman" panose="02020603050405020304" pitchFamily="18" charset="0"/>
                        </a:rPr>
                        <a:t>Page No</a:t>
                      </a:r>
                      <a:endParaRPr lang="en-IN" sz="20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2000" b="1">
                          <a:latin typeface="Times New Roman" panose="02020603050405020304" pitchFamily="18" charset="0"/>
                          <a:cs typeface="Times New Roman" panose="02020603050405020304" pitchFamily="18" charset="0"/>
                        </a:rPr>
                        <a:t>Contents </a:t>
                      </a:r>
                      <a:endParaRPr lang="en-IN" sz="2000" b="1"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813910"/>
                  </a:ext>
                </a:extLst>
              </a:tr>
              <a:tr h="446209">
                <a:tc>
                  <a:txBody>
                    <a:bodyPr/>
                    <a:lstStyle/>
                    <a:p>
                      <a:pPr algn="ctr"/>
                      <a:r>
                        <a:rPr lang="en-US" sz="1800" b="1">
                          <a:latin typeface="Times New Roman" panose="02020603050405020304" pitchFamily="18" charset="0"/>
                          <a:cs typeface="Times New Roman" panose="02020603050405020304" pitchFamily="18" charset="0"/>
                        </a:rPr>
                        <a:t>1.</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a:latin typeface="Times New Roman" panose="02020603050405020304" pitchFamily="18" charset="0"/>
                          <a:cs typeface="Times New Roman" panose="02020603050405020304" pitchFamily="18" charset="0"/>
                        </a:rPr>
                        <a:t>Overview</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84709906"/>
                  </a:ext>
                </a:extLst>
              </a:tr>
              <a:tr h="446209">
                <a:tc>
                  <a:txBody>
                    <a:bodyPr/>
                    <a:lstStyle/>
                    <a:p>
                      <a:pPr algn="ctr"/>
                      <a:r>
                        <a:rPr lang="en-US" sz="1800" b="1">
                          <a:latin typeface="Times New Roman" panose="02020603050405020304" pitchFamily="18" charset="0"/>
                          <a:cs typeface="Times New Roman" panose="02020603050405020304" pitchFamily="18" charset="0"/>
                        </a:rPr>
                        <a:t>2.</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a:latin typeface="Times New Roman" panose="02020603050405020304" pitchFamily="18" charset="0"/>
                          <a:cs typeface="Times New Roman" panose="02020603050405020304" pitchFamily="18" charset="0"/>
                        </a:rPr>
                        <a:t>Introduction</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38806273"/>
                  </a:ext>
                </a:extLst>
              </a:tr>
              <a:tr h="446209">
                <a:tc>
                  <a:txBody>
                    <a:bodyPr/>
                    <a:lstStyle/>
                    <a:p>
                      <a:pPr algn="ctr"/>
                      <a:r>
                        <a:rPr lang="en-US" sz="1800" b="1">
                          <a:latin typeface="Times New Roman" panose="02020603050405020304" pitchFamily="18" charset="0"/>
                          <a:cs typeface="Times New Roman" panose="02020603050405020304" pitchFamily="18" charset="0"/>
                        </a:rPr>
                        <a:t>3.</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a:latin typeface="Times New Roman" panose="02020603050405020304" pitchFamily="18" charset="0"/>
                          <a:cs typeface="Times New Roman" panose="02020603050405020304" pitchFamily="18" charset="0"/>
                        </a:rPr>
                        <a:t>Scope &amp; Objectives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51653547"/>
                  </a:ext>
                </a:extLst>
              </a:tr>
              <a:tr h="446209">
                <a:tc>
                  <a:txBody>
                    <a:bodyPr/>
                    <a:lstStyle/>
                    <a:p>
                      <a:pPr algn="ctr"/>
                      <a:r>
                        <a:rPr lang="en-US" sz="1800" b="1">
                          <a:latin typeface="Times New Roman" panose="02020603050405020304" pitchFamily="18" charset="0"/>
                          <a:cs typeface="Times New Roman" panose="02020603050405020304" pitchFamily="18" charset="0"/>
                        </a:rPr>
                        <a:t>4.</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a:latin typeface="Times New Roman" panose="02020603050405020304" pitchFamily="18" charset="0"/>
                          <a:cs typeface="Times New Roman" panose="02020603050405020304" pitchFamily="18" charset="0"/>
                        </a:rPr>
                        <a:t>Data Dictionary</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47702210"/>
                  </a:ext>
                </a:extLst>
              </a:tr>
              <a:tr h="446209">
                <a:tc>
                  <a:txBody>
                    <a:bodyPr/>
                    <a:lstStyle/>
                    <a:p>
                      <a:pPr algn="ctr"/>
                      <a:r>
                        <a:rPr lang="en-US" sz="1800" b="1">
                          <a:latin typeface="Times New Roman" panose="02020603050405020304" pitchFamily="18" charset="0"/>
                          <a:cs typeface="Times New Roman" panose="02020603050405020304" pitchFamily="18" charset="0"/>
                        </a:rPr>
                        <a:t>5.</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a:latin typeface="Times New Roman" panose="02020603050405020304" pitchFamily="18" charset="0"/>
                          <a:cs typeface="Times New Roman" panose="02020603050405020304" pitchFamily="18" charset="0"/>
                        </a:rPr>
                        <a:t>ER Diagram</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17231231"/>
                  </a:ext>
                </a:extLst>
              </a:tr>
              <a:tr h="446209">
                <a:tc>
                  <a:txBody>
                    <a:bodyPr/>
                    <a:lstStyle/>
                    <a:p>
                      <a:pPr algn="ctr"/>
                      <a:r>
                        <a:rPr lang="en-US" sz="1800" b="1">
                          <a:latin typeface="Times New Roman" panose="02020603050405020304" pitchFamily="18" charset="0"/>
                          <a:cs typeface="Times New Roman" panose="02020603050405020304" pitchFamily="18" charset="0"/>
                        </a:rPr>
                        <a:t>6.</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a:latin typeface="Times New Roman" panose="02020603050405020304" pitchFamily="18" charset="0"/>
                          <a:cs typeface="Times New Roman" panose="02020603050405020304" pitchFamily="18" charset="0"/>
                        </a:rPr>
                        <a:t>Data Flow Diagram</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59752649"/>
                  </a:ext>
                </a:extLst>
              </a:tr>
              <a:tr h="446209">
                <a:tc>
                  <a:txBody>
                    <a:bodyPr/>
                    <a:lstStyle/>
                    <a:p>
                      <a:pPr algn="ctr"/>
                      <a:r>
                        <a:rPr lang="en-US" sz="1800" b="1">
                          <a:latin typeface="Times New Roman" panose="02020603050405020304" pitchFamily="18" charset="0"/>
                          <a:cs typeface="Times New Roman" panose="02020603050405020304" pitchFamily="18" charset="0"/>
                        </a:rPr>
                        <a:t>7.</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a:latin typeface="Times New Roman" panose="02020603050405020304" pitchFamily="18" charset="0"/>
                          <a:cs typeface="Times New Roman" panose="02020603050405020304" pitchFamily="18" charset="0"/>
                        </a:rPr>
                        <a:t>User Interface</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80660970"/>
                  </a:ext>
                </a:extLst>
              </a:tr>
              <a:tr h="446209">
                <a:tc>
                  <a:txBody>
                    <a:bodyPr/>
                    <a:lstStyle/>
                    <a:p>
                      <a:pPr algn="ctr"/>
                      <a:r>
                        <a:rPr lang="en-US" sz="1800" b="1">
                          <a:latin typeface="Times New Roman" panose="02020603050405020304" pitchFamily="18" charset="0"/>
                          <a:cs typeface="Times New Roman" panose="02020603050405020304" pitchFamily="18" charset="0"/>
                        </a:rPr>
                        <a:t>8.</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a:latin typeface="Times New Roman" panose="02020603050405020304" pitchFamily="18" charset="0"/>
                          <a:cs typeface="Times New Roman" panose="02020603050405020304" pitchFamily="18" charset="0"/>
                        </a:rPr>
                        <a:t>Limitation and System Enhancement</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99599324"/>
                  </a:ext>
                </a:extLst>
              </a:tr>
              <a:tr h="446209">
                <a:tc>
                  <a:txBody>
                    <a:bodyPr/>
                    <a:lstStyle/>
                    <a:p>
                      <a:pPr algn="ctr"/>
                      <a:r>
                        <a:rPr lang="en-US" sz="1800" b="1">
                          <a:latin typeface="Times New Roman" panose="02020603050405020304" pitchFamily="18" charset="0"/>
                          <a:cs typeface="Times New Roman" panose="02020603050405020304" pitchFamily="18" charset="0"/>
                        </a:rPr>
                        <a:t>9.</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a:latin typeface="Times New Roman" panose="02020603050405020304" pitchFamily="18" charset="0"/>
                          <a:cs typeface="Times New Roman" panose="02020603050405020304" pitchFamily="18" charset="0"/>
                        </a:rPr>
                        <a:t>Conclusion</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87985530"/>
                  </a:ext>
                </a:extLst>
              </a:tr>
              <a:tr h="446209">
                <a:tc>
                  <a:txBody>
                    <a:bodyPr/>
                    <a:lstStyle/>
                    <a:p>
                      <a:pPr algn="ctr"/>
                      <a:r>
                        <a:rPr lang="en-US" sz="1800" b="1">
                          <a:latin typeface="Times New Roman" panose="02020603050405020304" pitchFamily="18" charset="0"/>
                          <a:cs typeface="Times New Roman" panose="02020603050405020304" pitchFamily="18" charset="0"/>
                        </a:rPr>
                        <a:t>10.</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Reference </a:t>
                      </a:r>
                    </a:p>
                  </a:txBody>
                  <a:tcPr/>
                </a:tc>
                <a:extLst>
                  <a:ext uri="{0D108BD9-81ED-4DB2-BD59-A6C34878D82A}">
                    <a16:rowId xmlns:a16="http://schemas.microsoft.com/office/drawing/2014/main" val="1872211557"/>
                  </a:ext>
                </a:extLst>
              </a:tr>
            </a:tbl>
          </a:graphicData>
        </a:graphic>
      </p:graphicFrame>
    </p:spTree>
    <p:extLst>
      <p:ext uri="{BB962C8B-B14F-4D97-AF65-F5344CB8AC3E}">
        <p14:creationId xmlns:p14="http://schemas.microsoft.com/office/powerpoint/2010/main" val="1721837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114AD-0557-C464-1663-44559B86EDF1}"/>
              </a:ext>
            </a:extLst>
          </p:cNvPr>
          <p:cNvSpPr>
            <a:spLocks noGrp="1"/>
          </p:cNvSpPr>
          <p:nvPr>
            <p:ph type="title"/>
          </p:nvPr>
        </p:nvSpPr>
        <p:spPr>
          <a:xfrm>
            <a:off x="838200" y="412954"/>
            <a:ext cx="10515600" cy="757085"/>
          </a:xfrm>
        </p:spPr>
        <p:txBody>
          <a:bodyPr>
            <a:normAutofit/>
          </a:bodyPr>
          <a:lstStyle/>
          <a:p>
            <a:r>
              <a:rPr lang="en-US" sz="4000">
                <a:latin typeface="Times New Roman" panose="02020603050405020304" pitchFamily="18" charset="0"/>
                <a:cs typeface="Times New Roman" panose="02020603050405020304" pitchFamily="18" charset="0"/>
              </a:rPr>
              <a:t>Overview</a:t>
            </a:r>
            <a:endParaRPr lang="en-US" sz="4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AD74D82-F228-D036-BE84-AB56076B4FA1}"/>
              </a:ext>
            </a:extLst>
          </p:cNvPr>
          <p:cNvSpPr txBox="1"/>
          <p:nvPr/>
        </p:nvSpPr>
        <p:spPr>
          <a:xfrm>
            <a:off x="838200" y="1557602"/>
            <a:ext cx="10515600" cy="4457952"/>
          </a:xfrm>
          <a:prstGeom prst="rect">
            <a:avLst/>
          </a:prstGeom>
          <a:noFill/>
        </p:spPr>
        <p:txBody>
          <a:bodyPr wrap="square" rtlCol="0">
            <a:spAutoFit/>
          </a:bodyPr>
          <a:lstStyle/>
          <a:p>
            <a:pPr algn="just">
              <a:lnSpc>
                <a:spcPct val="150000"/>
              </a:lnSpc>
            </a:pPr>
            <a:r>
              <a:rPr lang="en-US" sz="2400" dirty="0" err="1">
                <a:latin typeface="Times New Roman" panose="02020603050405020304" pitchFamily="18" charset="0"/>
                <a:cs typeface="Times New Roman" panose="02020603050405020304" pitchFamily="18" charset="0"/>
              </a:rPr>
              <a:t>PustakSetu</a:t>
            </a:r>
            <a:r>
              <a:rPr lang="en-US" sz="2400" dirty="0">
                <a:latin typeface="Times New Roman" panose="02020603050405020304" pitchFamily="18" charset="0"/>
                <a:cs typeface="Times New Roman" panose="02020603050405020304" pitchFamily="18" charset="0"/>
              </a:rPr>
              <a:t> is a web-based Library Management System designed to simplify and digitize library operations. It connects students and library administrators through a centralized platform where users can discover books, search and filter available resources, and monitor their borrowed books. Administrators can efficiently manage books, categories, members, inventory, book issues, returns, overdue records, and fines. The system reduces manual paperwork, improves book and inventory tracking, and provides secure role-based access. It is built using modern technologies like React, Node.js, Express.js, and a relational database.</a:t>
            </a:r>
          </a:p>
        </p:txBody>
      </p:sp>
    </p:spTree>
    <p:extLst>
      <p:ext uri="{BB962C8B-B14F-4D97-AF65-F5344CB8AC3E}">
        <p14:creationId xmlns:p14="http://schemas.microsoft.com/office/powerpoint/2010/main" val="333727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1F9DD-5AE2-800F-524D-B6E0287DBAA5}"/>
              </a:ext>
            </a:extLst>
          </p:cNvPr>
          <p:cNvSpPr>
            <a:spLocks noGrp="1"/>
          </p:cNvSpPr>
          <p:nvPr>
            <p:ph type="title"/>
          </p:nvPr>
        </p:nvSpPr>
        <p:spPr>
          <a:xfrm>
            <a:off x="838200" y="404455"/>
            <a:ext cx="10515600" cy="814746"/>
          </a:xfrm>
        </p:spPr>
        <p:txBody>
          <a:bodyPr>
            <a:normAutofit/>
          </a:bodyPr>
          <a:lstStyle/>
          <a:p>
            <a:r>
              <a:rPr lang="en-US" sz="4000" dirty="0">
                <a:latin typeface="Times New Roman" panose="02020603050405020304" pitchFamily="18" charset="0"/>
                <a:cs typeface="Times New Roman" panose="02020603050405020304" pitchFamily="18" charset="0"/>
              </a:rPr>
              <a:t>Introduction</a:t>
            </a:r>
          </a:p>
        </p:txBody>
      </p:sp>
      <p:sp>
        <p:nvSpPr>
          <p:cNvPr id="4" name="TextBox 3">
            <a:extLst>
              <a:ext uri="{FF2B5EF4-FFF2-40B4-BE49-F238E27FC236}">
                <a16:creationId xmlns:a16="http://schemas.microsoft.com/office/drawing/2014/main" id="{8EFC88B4-4137-BDDF-EAF7-8418C0B92836}"/>
              </a:ext>
            </a:extLst>
          </p:cNvPr>
          <p:cNvSpPr txBox="1"/>
          <p:nvPr/>
        </p:nvSpPr>
        <p:spPr>
          <a:xfrm>
            <a:off x="838200" y="1567434"/>
            <a:ext cx="10515600" cy="5011949"/>
          </a:xfrm>
          <a:prstGeom prst="rect">
            <a:avLst/>
          </a:prstGeom>
          <a:noFill/>
        </p:spPr>
        <p:txBody>
          <a:bodyPr wrap="square" rtlCol="0">
            <a:spAutoFit/>
          </a:bodyPr>
          <a:lstStyle/>
          <a:p>
            <a:pPr algn="just">
              <a:lnSpc>
                <a:spcPct val="150000"/>
              </a:lnSpc>
            </a:pPr>
            <a:r>
              <a:rPr lang="en-US" sz="2400" dirty="0" err="1">
                <a:latin typeface="Times New Roman" panose="02020603050405020304" pitchFamily="18" charset="0"/>
                <a:cs typeface="Times New Roman" panose="02020603050405020304" pitchFamily="18" charset="0"/>
              </a:rPr>
              <a:t>PustakSetu</a:t>
            </a:r>
            <a:r>
              <a:rPr lang="en-US" sz="2400" dirty="0">
                <a:latin typeface="Times New Roman" panose="02020603050405020304" pitchFamily="18" charset="0"/>
                <a:cs typeface="Times New Roman" panose="02020603050405020304" pitchFamily="18" charset="0"/>
              </a:rPr>
              <a:t> is a modern web-based Library Management System developed to digitize and simplify traditional library operations. The system provides a centralized platform for managing books, categories, students, members, inventory, book issues, returns, overdue records, and fines. Students can register and securely log in to search and filter books, check availability, view book details and shelf locations, and monitor their borrowed books. Administrators can efficiently manage library resources and circulation activities through a secure role-based system. The platform is built using modern technologies like React, Node.js, Express.js, and a relational database.</a:t>
            </a:r>
          </a:p>
        </p:txBody>
      </p:sp>
    </p:spTree>
    <p:extLst>
      <p:ext uri="{BB962C8B-B14F-4D97-AF65-F5344CB8AC3E}">
        <p14:creationId xmlns:p14="http://schemas.microsoft.com/office/powerpoint/2010/main" val="2966567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CD99F-1E39-4A66-9696-0AE483440DD5}"/>
              </a:ext>
            </a:extLst>
          </p:cNvPr>
          <p:cNvSpPr>
            <a:spLocks noGrp="1"/>
          </p:cNvSpPr>
          <p:nvPr>
            <p:ph type="title"/>
          </p:nvPr>
        </p:nvSpPr>
        <p:spPr>
          <a:xfrm>
            <a:off x="838200" y="433951"/>
            <a:ext cx="10515600" cy="863907"/>
          </a:xfrm>
        </p:spPr>
        <p:txBody>
          <a:bodyPr>
            <a:normAutofit/>
          </a:bodyPr>
          <a:lstStyle/>
          <a:p>
            <a:r>
              <a:rPr lang="en-US" sz="4000" dirty="0">
                <a:latin typeface="Times New Roman" panose="02020603050405020304" pitchFamily="18" charset="0"/>
                <a:cs typeface="Times New Roman" panose="02020603050405020304" pitchFamily="18" charset="0"/>
              </a:rPr>
              <a:t>Scope</a:t>
            </a:r>
          </a:p>
        </p:txBody>
      </p:sp>
      <p:graphicFrame>
        <p:nvGraphicFramePr>
          <p:cNvPr id="8" name="TextBox 5">
            <a:extLst>
              <a:ext uri="{FF2B5EF4-FFF2-40B4-BE49-F238E27FC236}">
                <a16:creationId xmlns:a16="http://schemas.microsoft.com/office/drawing/2014/main" id="{675242C7-2E14-E109-6190-2C6BF74F4181}"/>
              </a:ext>
            </a:extLst>
          </p:cNvPr>
          <p:cNvGraphicFramePr/>
          <p:nvPr>
            <p:extLst>
              <p:ext uri="{D42A27DB-BD31-4B8C-83A1-F6EECF244321}">
                <p14:modId xmlns:p14="http://schemas.microsoft.com/office/powerpoint/2010/main" val="755627434"/>
              </p:ext>
            </p:extLst>
          </p:nvPr>
        </p:nvGraphicFramePr>
        <p:xfrm>
          <a:off x="838200" y="1470483"/>
          <a:ext cx="10515600" cy="39170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69794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87BD9D3-2072-1F12-A266-5F052388BB76}"/>
              </a:ext>
            </a:extLst>
          </p:cNvPr>
          <p:cNvSpPr txBox="1">
            <a:spLocks/>
          </p:cNvSpPr>
          <p:nvPr/>
        </p:nvSpPr>
        <p:spPr>
          <a:xfrm>
            <a:off x="838200" y="487680"/>
            <a:ext cx="10515600" cy="81017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panose="02020603050405020304" pitchFamily="18" charset="0"/>
                <a:cs typeface="Times New Roman" panose="02020603050405020304" pitchFamily="18" charset="0"/>
              </a:rPr>
              <a:t>Objectives</a:t>
            </a:r>
            <a:endParaRPr lang="en-US" sz="4000" dirty="0">
              <a:latin typeface="Times New Roman" panose="02020603050405020304" pitchFamily="18" charset="0"/>
              <a:cs typeface="Times New Roman" panose="02020603050405020304" pitchFamily="18" charset="0"/>
            </a:endParaRPr>
          </a:p>
        </p:txBody>
      </p:sp>
      <p:graphicFrame>
        <p:nvGraphicFramePr>
          <p:cNvPr id="17" name="TextBox 1">
            <a:extLst>
              <a:ext uri="{FF2B5EF4-FFF2-40B4-BE49-F238E27FC236}">
                <a16:creationId xmlns:a16="http://schemas.microsoft.com/office/drawing/2014/main" id="{84744848-7142-A374-0015-C4C2FD567D7E}"/>
              </a:ext>
            </a:extLst>
          </p:cNvPr>
          <p:cNvGraphicFramePr/>
          <p:nvPr>
            <p:extLst>
              <p:ext uri="{D42A27DB-BD31-4B8C-83A1-F6EECF244321}">
                <p14:modId xmlns:p14="http://schemas.microsoft.com/office/powerpoint/2010/main" val="909606485"/>
              </p:ext>
            </p:extLst>
          </p:nvPr>
        </p:nvGraphicFramePr>
        <p:xfrm>
          <a:off x="838200" y="1539576"/>
          <a:ext cx="10515600" cy="3363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2972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1EDD1-F796-4B31-2169-73C3137F1F79}"/>
              </a:ext>
            </a:extLst>
          </p:cNvPr>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chemeClr val="tx1">
                <a:lumMod val="85000"/>
                <a:lumOff val="15000"/>
              </a:schemeClr>
            </a:solidFill>
          </a:ln>
        </p:spPr>
        <p:txBody>
          <a:bodyPr vert="horz" lIns="91440" tIns="45720" rIns="91440" bIns="45720" rtlCol="0" anchor="ctr">
            <a:normAutofit/>
          </a:bodyPr>
          <a:lstStyle/>
          <a:p>
            <a:pPr algn="ctr"/>
            <a:r>
              <a:rPr lang="en-US" sz="2600" kern="1200">
                <a:solidFill>
                  <a:schemeClr val="bg1"/>
                </a:solidFill>
                <a:latin typeface="+mj-lt"/>
                <a:ea typeface="+mj-ea"/>
                <a:cs typeface="+mj-cs"/>
              </a:rPr>
              <a:t>Whole System’s ER Diagram </a:t>
            </a:r>
            <a:endParaRPr lang="en-US" sz="2600" kern="1200" dirty="0">
              <a:solidFill>
                <a:schemeClr val="bg1"/>
              </a:solidFill>
              <a:latin typeface="+mj-lt"/>
              <a:ea typeface="+mj-ea"/>
              <a:cs typeface="+mj-cs"/>
            </a:endParaRPr>
          </a:p>
        </p:txBody>
      </p:sp>
    </p:spTree>
    <p:extLst>
      <p:ext uri="{BB962C8B-B14F-4D97-AF65-F5344CB8AC3E}">
        <p14:creationId xmlns:p14="http://schemas.microsoft.com/office/powerpoint/2010/main" val="1628888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4F1BD0-DBEB-0E82-2F2A-ED79360D3724}"/>
            </a:ext>
          </a:extLst>
        </p:cNvPr>
        <p:cNvGrpSpPr/>
        <p:nvPr/>
      </p:nvGrpSpPr>
      <p:grpSpPr>
        <a:xfrm>
          <a:off x="0" y="0"/>
          <a:ext cx="0" cy="0"/>
          <a:chOff x="0" y="0"/>
          <a:chExt cx="0" cy="0"/>
        </a:xfrm>
      </p:grpSpPr>
      <p:sp>
        <p:nvSpPr>
          <p:cNvPr id="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0D4F45-B684-65CA-123D-46993D0387D9}"/>
              </a:ext>
            </a:extLst>
          </p:cNvPr>
          <p:cNvSpPr>
            <a:spLocks noGrp="1"/>
          </p:cNvSpPr>
          <p:nvPr>
            <p:ph type="title"/>
          </p:nvPr>
        </p:nvSpPr>
        <p:spPr>
          <a:xfrm>
            <a:off x="1028700" y="1967266"/>
            <a:ext cx="2628900" cy="2547257"/>
          </a:xfrm>
          <a:prstGeom prst="ellipse">
            <a:avLst/>
          </a:prstGeom>
          <a:noFill/>
        </p:spPr>
        <p:txBody>
          <a:bodyPr vert="horz" lIns="91440" tIns="45720" rIns="91440" bIns="45720" rtlCol="0" anchor="ctr">
            <a:normAutofit/>
          </a:bodyPr>
          <a:lstStyle/>
          <a:p>
            <a:pPr algn="ctr"/>
            <a:r>
              <a:rPr lang="en-US" sz="3100" kern="1200">
                <a:solidFill>
                  <a:srgbClr val="FFFFFF"/>
                </a:solidFill>
                <a:latin typeface="+mj-lt"/>
                <a:ea typeface="+mj-ea"/>
                <a:cs typeface="+mj-cs"/>
              </a:rPr>
              <a:t>Level 0 </a:t>
            </a:r>
            <a:br>
              <a:rPr lang="en-US" sz="3100" kern="1200">
                <a:solidFill>
                  <a:srgbClr val="FFFFFF"/>
                </a:solidFill>
                <a:latin typeface="+mj-lt"/>
                <a:ea typeface="+mj-ea"/>
                <a:cs typeface="+mj-cs"/>
              </a:rPr>
            </a:br>
            <a:r>
              <a:rPr lang="en-US" sz="3100" kern="1200">
                <a:solidFill>
                  <a:srgbClr val="FFFFFF"/>
                </a:solidFill>
                <a:latin typeface="+mj-lt"/>
                <a:ea typeface="+mj-ea"/>
                <a:cs typeface="+mj-cs"/>
              </a:rPr>
              <a:t>Data Flow Diagram</a:t>
            </a:r>
          </a:p>
        </p:txBody>
      </p:sp>
      <p:pic>
        <p:nvPicPr>
          <p:cNvPr id="3" name="Picture 2">
            <a:extLst>
              <a:ext uri="{FF2B5EF4-FFF2-40B4-BE49-F238E27FC236}">
                <a16:creationId xmlns:a16="http://schemas.microsoft.com/office/drawing/2014/main" id="{F2EEF7C1-271F-D458-22DF-51D4154699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877523" y="643466"/>
            <a:ext cx="4580286" cy="5568739"/>
          </a:xfrm>
          <a:prstGeom prst="rect">
            <a:avLst/>
          </a:prstGeom>
          <a:noFill/>
        </p:spPr>
      </p:pic>
    </p:spTree>
    <p:extLst>
      <p:ext uri="{BB962C8B-B14F-4D97-AF65-F5344CB8AC3E}">
        <p14:creationId xmlns:p14="http://schemas.microsoft.com/office/powerpoint/2010/main" val="4012723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B49688-309E-2328-0B0F-3F1E0037BB92}"/>
            </a:ext>
          </a:extLst>
        </p:cNvPr>
        <p:cNvGrpSpPr/>
        <p:nvPr/>
      </p:nvGrpSpPr>
      <p:grpSpPr>
        <a:xfrm>
          <a:off x="0" y="0"/>
          <a:ext cx="0" cy="0"/>
          <a:chOff x="0" y="0"/>
          <a:chExt cx="0" cy="0"/>
        </a:xfrm>
      </p:grpSpPr>
      <p:sp>
        <p:nvSpPr>
          <p:cNvPr id="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D52D41-5160-B3F4-FD69-D02AC397AC4E}"/>
              </a:ext>
            </a:extLst>
          </p:cNvPr>
          <p:cNvSpPr>
            <a:spLocks noGrp="1"/>
          </p:cNvSpPr>
          <p:nvPr>
            <p:ph type="title"/>
          </p:nvPr>
        </p:nvSpPr>
        <p:spPr>
          <a:xfrm>
            <a:off x="1028700" y="1967266"/>
            <a:ext cx="2628900" cy="2547257"/>
          </a:xfrm>
          <a:prstGeom prst="ellipse">
            <a:avLst/>
          </a:prstGeom>
          <a:noFill/>
        </p:spPr>
        <p:txBody>
          <a:bodyPr vert="horz" lIns="91440" tIns="45720" rIns="91440" bIns="45720" rtlCol="0" anchor="ctr">
            <a:normAutofit/>
          </a:bodyPr>
          <a:lstStyle/>
          <a:p>
            <a:pPr algn="ctr"/>
            <a:r>
              <a:rPr lang="en-US" sz="3100" kern="1200">
                <a:solidFill>
                  <a:srgbClr val="FFFFFF"/>
                </a:solidFill>
                <a:latin typeface="+mj-lt"/>
                <a:ea typeface="+mj-ea"/>
                <a:cs typeface="+mj-cs"/>
              </a:rPr>
              <a:t>Level 1</a:t>
            </a:r>
            <a:br>
              <a:rPr lang="en-US" sz="3100" kern="1200">
                <a:solidFill>
                  <a:srgbClr val="FFFFFF"/>
                </a:solidFill>
                <a:latin typeface="+mj-lt"/>
                <a:ea typeface="+mj-ea"/>
                <a:cs typeface="+mj-cs"/>
              </a:rPr>
            </a:br>
            <a:r>
              <a:rPr lang="en-US" sz="3100" kern="1200">
                <a:solidFill>
                  <a:srgbClr val="FFFFFF"/>
                </a:solidFill>
                <a:latin typeface="+mj-lt"/>
                <a:ea typeface="+mj-ea"/>
                <a:cs typeface="+mj-cs"/>
              </a:rPr>
              <a:t>Data Flow Diagram For admin</a:t>
            </a:r>
          </a:p>
        </p:txBody>
      </p:sp>
      <p:pic>
        <p:nvPicPr>
          <p:cNvPr id="3" name="Picture 2">
            <a:extLst>
              <a:ext uri="{FF2B5EF4-FFF2-40B4-BE49-F238E27FC236}">
                <a16:creationId xmlns:a16="http://schemas.microsoft.com/office/drawing/2014/main" id="{B11D6A05-10C4-1D3E-D009-5585272312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863600" y="643466"/>
            <a:ext cx="4608131" cy="5568739"/>
          </a:xfrm>
          <a:prstGeom prst="rect">
            <a:avLst/>
          </a:prstGeom>
          <a:noFill/>
        </p:spPr>
      </p:pic>
    </p:spTree>
    <p:extLst>
      <p:ext uri="{BB962C8B-B14F-4D97-AF65-F5344CB8AC3E}">
        <p14:creationId xmlns:p14="http://schemas.microsoft.com/office/powerpoint/2010/main" val="2862069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573552-A08A-8999-E7F1-EDE4F5639560}"/>
            </a:ext>
          </a:extLst>
        </p:cNvPr>
        <p:cNvGrpSpPr/>
        <p:nvPr/>
      </p:nvGrpSpPr>
      <p:grpSpPr>
        <a:xfrm>
          <a:off x="0" y="0"/>
          <a:ext cx="0" cy="0"/>
          <a:chOff x="0" y="0"/>
          <a:chExt cx="0" cy="0"/>
        </a:xfrm>
      </p:grpSpPr>
      <p:sp>
        <p:nvSpPr>
          <p:cNvPr id="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D40BD4-B410-30FC-AD5C-0F006E49C9CC}"/>
              </a:ext>
            </a:extLst>
          </p:cNvPr>
          <p:cNvSpPr>
            <a:spLocks noGrp="1"/>
          </p:cNvSpPr>
          <p:nvPr>
            <p:ph type="title"/>
          </p:nvPr>
        </p:nvSpPr>
        <p:spPr>
          <a:xfrm>
            <a:off x="1028700" y="1967266"/>
            <a:ext cx="2628900" cy="2547257"/>
          </a:xfrm>
          <a:prstGeom prst="ellipse">
            <a:avLst/>
          </a:prstGeom>
          <a:noFill/>
        </p:spPr>
        <p:txBody>
          <a:bodyPr vert="horz" lIns="91440" tIns="45720" rIns="91440" bIns="45720" rtlCol="0" anchor="ctr">
            <a:normAutofit/>
          </a:bodyPr>
          <a:lstStyle/>
          <a:p>
            <a:pPr algn="ctr"/>
            <a:r>
              <a:rPr lang="en-US" sz="2800" kern="1200">
                <a:solidFill>
                  <a:srgbClr val="FFFFFF"/>
                </a:solidFill>
                <a:latin typeface="+mj-lt"/>
                <a:ea typeface="+mj-ea"/>
                <a:cs typeface="+mj-cs"/>
              </a:rPr>
              <a:t>Level 1</a:t>
            </a:r>
            <a:br>
              <a:rPr lang="en-US" sz="2800" kern="1200">
                <a:solidFill>
                  <a:srgbClr val="FFFFFF"/>
                </a:solidFill>
                <a:latin typeface="+mj-lt"/>
                <a:ea typeface="+mj-ea"/>
                <a:cs typeface="+mj-cs"/>
              </a:rPr>
            </a:br>
            <a:r>
              <a:rPr lang="en-US" sz="2800" kern="1200">
                <a:solidFill>
                  <a:srgbClr val="FFFFFF"/>
                </a:solidFill>
                <a:latin typeface="+mj-lt"/>
                <a:ea typeface="+mj-ea"/>
                <a:cs typeface="+mj-cs"/>
              </a:rPr>
              <a:t>Data Flow Diagram for Student</a:t>
            </a:r>
          </a:p>
        </p:txBody>
      </p:sp>
      <p:pic>
        <p:nvPicPr>
          <p:cNvPr id="3" name="Picture 2">
            <a:extLst>
              <a:ext uri="{FF2B5EF4-FFF2-40B4-BE49-F238E27FC236}">
                <a16:creationId xmlns:a16="http://schemas.microsoft.com/office/drawing/2014/main" id="{02D4DB0A-2765-5BE1-58E1-2B7C845AE8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863600" y="643466"/>
            <a:ext cx="4608131" cy="5568739"/>
          </a:xfrm>
          <a:prstGeom prst="rect">
            <a:avLst/>
          </a:prstGeom>
          <a:noFill/>
        </p:spPr>
      </p:pic>
    </p:spTree>
    <p:extLst>
      <p:ext uri="{BB962C8B-B14F-4D97-AF65-F5344CB8AC3E}">
        <p14:creationId xmlns:p14="http://schemas.microsoft.com/office/powerpoint/2010/main" val="1430943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4B8813-EA78-6C22-E3ED-703698E78F33}"/>
            </a:ext>
          </a:extLst>
        </p:cNvPr>
        <p:cNvGrpSpPr/>
        <p:nvPr/>
      </p:nvGrpSpPr>
      <p:grpSpPr>
        <a:xfrm>
          <a:off x="0" y="0"/>
          <a:ext cx="0" cy="0"/>
          <a:chOff x="0" y="0"/>
          <a:chExt cx="0" cy="0"/>
        </a:xfrm>
      </p:grpSpPr>
      <p:sp>
        <p:nvSpPr>
          <p:cNvPr id="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B0004B-8954-5A50-5D75-6EA422634408}"/>
              </a:ext>
            </a:extLst>
          </p:cNvPr>
          <p:cNvSpPr>
            <a:spLocks noGrp="1"/>
          </p:cNvSpPr>
          <p:nvPr>
            <p:ph type="title"/>
          </p:nvPr>
        </p:nvSpPr>
        <p:spPr>
          <a:xfrm>
            <a:off x="1028700" y="1967266"/>
            <a:ext cx="2628900" cy="2547257"/>
          </a:xfrm>
          <a:prstGeom prst="ellipse">
            <a:avLst/>
          </a:prstGeom>
          <a:noFill/>
        </p:spPr>
        <p:txBody>
          <a:bodyPr vert="horz" lIns="91440" tIns="45720" rIns="91440" bIns="45720" rtlCol="0" anchor="ctr">
            <a:normAutofit/>
          </a:bodyPr>
          <a:lstStyle/>
          <a:p>
            <a:pPr algn="ctr"/>
            <a:r>
              <a:rPr lang="en-US" sz="3100" kern="1200">
                <a:solidFill>
                  <a:srgbClr val="FFFFFF"/>
                </a:solidFill>
                <a:latin typeface="+mj-lt"/>
                <a:ea typeface="+mj-ea"/>
                <a:cs typeface="+mj-cs"/>
              </a:rPr>
              <a:t>Level 1 </a:t>
            </a:r>
            <a:br>
              <a:rPr lang="en-US" sz="3100" kern="1200">
                <a:solidFill>
                  <a:srgbClr val="FFFFFF"/>
                </a:solidFill>
                <a:latin typeface="+mj-lt"/>
                <a:ea typeface="+mj-ea"/>
                <a:cs typeface="+mj-cs"/>
              </a:rPr>
            </a:br>
            <a:r>
              <a:rPr lang="en-US" sz="3100" kern="1200">
                <a:solidFill>
                  <a:srgbClr val="FFFFFF"/>
                </a:solidFill>
                <a:latin typeface="+mj-lt"/>
                <a:ea typeface="+mj-ea"/>
                <a:cs typeface="+mj-cs"/>
              </a:rPr>
              <a:t>Data Flow Diagram for visitor</a:t>
            </a:r>
          </a:p>
        </p:txBody>
      </p:sp>
      <p:pic>
        <p:nvPicPr>
          <p:cNvPr id="3" name="Picture 2">
            <a:extLst>
              <a:ext uri="{FF2B5EF4-FFF2-40B4-BE49-F238E27FC236}">
                <a16:creationId xmlns:a16="http://schemas.microsoft.com/office/drawing/2014/main" id="{1CF2D704-C7CA-2F9A-8CFB-B53B48D1E1AB}"/>
              </a:ext>
            </a:extLst>
          </p:cNvPr>
          <p:cNvPicPr>
            <a:picLocks noChangeAspect="1"/>
          </p:cNvPicPr>
          <p:nvPr/>
        </p:nvPicPr>
        <p:blipFill rotWithShape="1">
          <a:blip r:embed="rId2">
            <a:extLst>
              <a:ext uri="{28A0092B-C50C-407E-A947-70E740481C1C}">
                <a14:useLocalDpi xmlns:a14="http://schemas.microsoft.com/office/drawing/2010/main" val="0"/>
              </a:ext>
            </a:extLst>
          </a:blip>
          <a:srcRect t="6926"/>
          <a:stretch>
            <a:fillRect/>
          </a:stretch>
        </p:blipFill>
        <p:spPr bwMode="auto">
          <a:xfrm>
            <a:off x="5707104" y="643466"/>
            <a:ext cx="4921123" cy="5568739"/>
          </a:xfrm>
          <a:prstGeom prst="rect">
            <a:avLst/>
          </a:prstGeom>
          <a:noFill/>
          <a:extLst>
            <a:ext uri="{53640926-AAD7-44D8-BBD7-CCE9431645EC}">
              <a14:shadowObscured xmlns:a14="http://schemas.microsoft.com/office/drawing/2010/main"/>
            </a:ext>
          </a:extLst>
        </p:spPr>
      </p:pic>
    </p:spTree>
    <p:extLst>
      <p:ext uri="{BB962C8B-B14F-4D97-AF65-F5344CB8AC3E}">
        <p14:creationId xmlns:p14="http://schemas.microsoft.com/office/powerpoint/2010/main" val="3400632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5D9D7E-78FD-67C2-9ABC-C4426119BC32}"/>
            </a:ext>
          </a:extLst>
        </p:cNvPr>
        <p:cNvGrpSpPr/>
        <p:nvPr/>
      </p:nvGrpSpPr>
      <p:grpSpPr>
        <a:xfrm>
          <a:off x="0" y="0"/>
          <a:ext cx="0" cy="0"/>
          <a:chOff x="0" y="0"/>
          <a:chExt cx="0" cy="0"/>
        </a:xfrm>
      </p:grpSpPr>
      <p:sp>
        <p:nvSpPr>
          <p:cNvPr id="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524314-181B-F7F8-2FFD-68767D915DCF}"/>
              </a:ext>
            </a:extLst>
          </p:cNvPr>
          <p:cNvSpPr>
            <a:spLocks noGrp="1"/>
          </p:cNvSpPr>
          <p:nvPr>
            <p:ph type="title"/>
          </p:nvPr>
        </p:nvSpPr>
        <p:spPr>
          <a:xfrm>
            <a:off x="1028700" y="1967266"/>
            <a:ext cx="2628900" cy="2547257"/>
          </a:xfrm>
          <a:prstGeom prst="ellipse">
            <a:avLst/>
          </a:prstGeom>
          <a:noFill/>
        </p:spPr>
        <p:txBody>
          <a:bodyPr vert="horz" lIns="91440" tIns="45720" rIns="91440" bIns="45720" rtlCol="0" anchor="ctr">
            <a:normAutofit/>
          </a:bodyPr>
          <a:lstStyle/>
          <a:p>
            <a:pPr algn="ctr"/>
            <a:r>
              <a:rPr lang="en-US" sz="3100" kern="1200">
                <a:solidFill>
                  <a:srgbClr val="FFFFFF"/>
                </a:solidFill>
                <a:latin typeface="+mj-lt"/>
                <a:ea typeface="+mj-ea"/>
                <a:cs typeface="+mj-cs"/>
              </a:rPr>
              <a:t>Level 2 </a:t>
            </a:r>
            <a:br>
              <a:rPr lang="en-US" sz="3100" kern="1200">
                <a:solidFill>
                  <a:srgbClr val="FFFFFF"/>
                </a:solidFill>
                <a:latin typeface="+mj-lt"/>
                <a:ea typeface="+mj-ea"/>
                <a:cs typeface="+mj-cs"/>
              </a:rPr>
            </a:br>
            <a:r>
              <a:rPr lang="en-US" sz="3100" kern="1200">
                <a:solidFill>
                  <a:srgbClr val="FFFFFF"/>
                </a:solidFill>
                <a:latin typeface="+mj-lt"/>
                <a:ea typeface="+mj-ea"/>
                <a:cs typeface="+mj-cs"/>
              </a:rPr>
              <a:t>Data Flow Diagram for admin</a:t>
            </a:r>
          </a:p>
        </p:txBody>
      </p:sp>
      <p:pic>
        <p:nvPicPr>
          <p:cNvPr id="3" name="Picture 2">
            <a:extLst>
              <a:ext uri="{FF2B5EF4-FFF2-40B4-BE49-F238E27FC236}">
                <a16:creationId xmlns:a16="http://schemas.microsoft.com/office/drawing/2014/main" id="{51083BEC-376E-208C-6EEF-B665CD003A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309099" y="643466"/>
            <a:ext cx="3717133" cy="5568739"/>
          </a:xfrm>
          <a:prstGeom prst="rect">
            <a:avLst/>
          </a:prstGeom>
          <a:noFill/>
        </p:spPr>
      </p:pic>
    </p:spTree>
    <p:extLst>
      <p:ext uri="{BB962C8B-B14F-4D97-AF65-F5344CB8AC3E}">
        <p14:creationId xmlns:p14="http://schemas.microsoft.com/office/powerpoint/2010/main" val="893437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F8F932-21E8-577E-B3C5-7AEBBC8B1FE3}"/>
            </a:ext>
          </a:extLst>
        </p:cNvPr>
        <p:cNvGrpSpPr/>
        <p:nvPr/>
      </p:nvGrpSpPr>
      <p:grpSpPr>
        <a:xfrm>
          <a:off x="0" y="0"/>
          <a:ext cx="0" cy="0"/>
          <a:chOff x="0" y="0"/>
          <a:chExt cx="0" cy="0"/>
        </a:xfrm>
      </p:grpSpPr>
      <p:sp>
        <p:nvSpPr>
          <p:cNvPr id="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D5BEF2-76EB-F2BF-E680-F99787E1A8CA}"/>
              </a:ext>
            </a:extLst>
          </p:cNvPr>
          <p:cNvSpPr>
            <a:spLocks noGrp="1"/>
          </p:cNvSpPr>
          <p:nvPr>
            <p:ph type="title"/>
          </p:nvPr>
        </p:nvSpPr>
        <p:spPr>
          <a:xfrm>
            <a:off x="1028700" y="1967266"/>
            <a:ext cx="2628900" cy="2547257"/>
          </a:xfrm>
          <a:prstGeom prst="ellipse">
            <a:avLst/>
          </a:prstGeom>
          <a:noFill/>
        </p:spPr>
        <p:txBody>
          <a:bodyPr vert="horz" lIns="91440" tIns="45720" rIns="91440" bIns="45720" rtlCol="0" anchor="ctr">
            <a:normAutofit/>
          </a:bodyPr>
          <a:lstStyle/>
          <a:p>
            <a:pPr algn="ctr"/>
            <a:r>
              <a:rPr lang="en-US" sz="3100" kern="1200">
                <a:solidFill>
                  <a:srgbClr val="FFFFFF"/>
                </a:solidFill>
                <a:latin typeface="+mj-lt"/>
                <a:ea typeface="+mj-ea"/>
                <a:cs typeface="+mj-cs"/>
              </a:rPr>
              <a:t>Level 2 </a:t>
            </a:r>
            <a:br>
              <a:rPr lang="en-US" sz="3100" kern="1200">
                <a:solidFill>
                  <a:srgbClr val="FFFFFF"/>
                </a:solidFill>
                <a:latin typeface="+mj-lt"/>
                <a:ea typeface="+mj-ea"/>
                <a:cs typeface="+mj-cs"/>
              </a:rPr>
            </a:br>
            <a:r>
              <a:rPr lang="en-US" sz="3100" kern="1200">
                <a:solidFill>
                  <a:srgbClr val="FFFFFF"/>
                </a:solidFill>
                <a:latin typeface="+mj-lt"/>
                <a:ea typeface="+mj-ea"/>
                <a:cs typeface="+mj-cs"/>
              </a:rPr>
              <a:t>Data Flow Diagram for admin</a:t>
            </a:r>
          </a:p>
        </p:txBody>
      </p:sp>
      <p:pic>
        <p:nvPicPr>
          <p:cNvPr id="3" name="Picture 2">
            <a:extLst>
              <a:ext uri="{FF2B5EF4-FFF2-40B4-BE49-F238E27FC236}">
                <a16:creationId xmlns:a16="http://schemas.microsoft.com/office/drawing/2014/main" id="{EB175AD2-FDE9-129A-25AB-5773F58EE7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309099" y="643466"/>
            <a:ext cx="3717133" cy="5568739"/>
          </a:xfrm>
          <a:prstGeom prst="rect">
            <a:avLst/>
          </a:prstGeom>
          <a:noFill/>
        </p:spPr>
      </p:pic>
    </p:spTree>
    <p:extLst>
      <p:ext uri="{BB962C8B-B14F-4D97-AF65-F5344CB8AC3E}">
        <p14:creationId xmlns:p14="http://schemas.microsoft.com/office/powerpoint/2010/main" val="12717234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5A0934-33E3-AC19-723A-AC329C251FB8}"/>
            </a:ext>
          </a:extLst>
        </p:cNvPr>
        <p:cNvGrpSpPr/>
        <p:nvPr/>
      </p:nvGrpSpPr>
      <p:grpSpPr>
        <a:xfrm>
          <a:off x="0" y="0"/>
          <a:ext cx="0" cy="0"/>
          <a:chOff x="0" y="0"/>
          <a:chExt cx="0" cy="0"/>
        </a:xfrm>
      </p:grpSpPr>
      <p:sp>
        <p:nvSpPr>
          <p:cNvPr id="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DF2A58-BBA1-C952-BB7D-64EA991BA823}"/>
              </a:ext>
            </a:extLst>
          </p:cNvPr>
          <p:cNvSpPr>
            <a:spLocks noGrp="1"/>
          </p:cNvSpPr>
          <p:nvPr>
            <p:ph type="title"/>
          </p:nvPr>
        </p:nvSpPr>
        <p:spPr>
          <a:xfrm>
            <a:off x="1028700" y="1967266"/>
            <a:ext cx="2628900" cy="2547257"/>
          </a:xfrm>
          <a:prstGeom prst="ellipse">
            <a:avLst/>
          </a:prstGeom>
          <a:noFill/>
        </p:spPr>
        <p:txBody>
          <a:bodyPr vert="horz" lIns="91440" tIns="45720" rIns="91440" bIns="45720" rtlCol="0" anchor="ctr">
            <a:normAutofit/>
          </a:bodyPr>
          <a:lstStyle/>
          <a:p>
            <a:pPr algn="ctr"/>
            <a:r>
              <a:rPr lang="en-US" sz="2800" kern="1200" dirty="0">
                <a:solidFill>
                  <a:srgbClr val="FFFFFF"/>
                </a:solidFill>
                <a:latin typeface="+mj-lt"/>
                <a:ea typeface="+mj-ea"/>
                <a:cs typeface="+mj-cs"/>
              </a:rPr>
              <a:t>Level 2 </a:t>
            </a:r>
            <a:br>
              <a:rPr lang="en-US" sz="2800" kern="1200" dirty="0">
                <a:solidFill>
                  <a:srgbClr val="FFFFFF"/>
                </a:solidFill>
                <a:latin typeface="+mj-lt"/>
                <a:ea typeface="+mj-ea"/>
                <a:cs typeface="+mj-cs"/>
              </a:rPr>
            </a:br>
            <a:r>
              <a:rPr lang="en-US" sz="2800" kern="1200" dirty="0">
                <a:solidFill>
                  <a:srgbClr val="FFFFFF"/>
                </a:solidFill>
                <a:latin typeface="+mj-lt"/>
                <a:ea typeface="+mj-ea"/>
                <a:cs typeface="+mj-cs"/>
              </a:rPr>
              <a:t>Data Flow Diagram for student</a:t>
            </a:r>
          </a:p>
        </p:txBody>
      </p:sp>
      <p:pic>
        <p:nvPicPr>
          <p:cNvPr id="3" name="Picture 2">
            <a:extLst>
              <a:ext uri="{FF2B5EF4-FFF2-40B4-BE49-F238E27FC236}">
                <a16:creationId xmlns:a16="http://schemas.microsoft.com/office/drawing/2014/main" id="{69539176-D9D8-9B9C-B9F8-C4F3A68C44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309099" y="643466"/>
            <a:ext cx="3717133" cy="5568739"/>
          </a:xfrm>
          <a:prstGeom prst="rect">
            <a:avLst/>
          </a:prstGeom>
          <a:noFill/>
        </p:spPr>
      </p:pic>
    </p:spTree>
    <p:extLst>
      <p:ext uri="{BB962C8B-B14F-4D97-AF65-F5344CB8AC3E}">
        <p14:creationId xmlns:p14="http://schemas.microsoft.com/office/powerpoint/2010/main" val="362720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4BBED5-715C-FE8C-9C62-0736AFB2643C}"/>
            </a:ext>
          </a:extLst>
        </p:cNvPr>
        <p:cNvGrpSpPr/>
        <p:nvPr/>
      </p:nvGrpSpPr>
      <p:grpSpPr>
        <a:xfrm>
          <a:off x="0" y="0"/>
          <a:ext cx="0" cy="0"/>
          <a:chOff x="0" y="0"/>
          <a:chExt cx="0" cy="0"/>
        </a:xfrm>
      </p:grpSpPr>
      <p:sp>
        <p:nvSpPr>
          <p:cNvPr id="13"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25DA6A-1003-70B8-F82B-37091D7E2BD6}"/>
              </a:ext>
            </a:extLst>
          </p:cNvPr>
          <p:cNvSpPr>
            <a:spLocks noGrp="1"/>
          </p:cNvSpPr>
          <p:nvPr>
            <p:ph type="title"/>
          </p:nvPr>
        </p:nvSpPr>
        <p:spPr>
          <a:xfrm>
            <a:off x="1028700" y="1967266"/>
            <a:ext cx="2628900" cy="2547257"/>
          </a:xfrm>
          <a:prstGeom prst="ellipse">
            <a:avLst/>
          </a:prstGeom>
          <a:noFill/>
        </p:spPr>
        <p:txBody>
          <a:bodyPr vert="horz" lIns="91440" tIns="45720" rIns="91440" bIns="45720" rtlCol="0" anchor="ctr">
            <a:normAutofit/>
          </a:bodyPr>
          <a:lstStyle/>
          <a:p>
            <a:pPr algn="ctr"/>
            <a:r>
              <a:rPr lang="en-US" sz="3100" kern="1200">
                <a:solidFill>
                  <a:srgbClr val="FFFFFF"/>
                </a:solidFill>
                <a:latin typeface="+mj-lt"/>
                <a:ea typeface="+mj-ea"/>
                <a:cs typeface="+mj-cs"/>
              </a:rPr>
              <a:t>Level 2 </a:t>
            </a:r>
            <a:br>
              <a:rPr lang="en-US" sz="3100" kern="1200">
                <a:solidFill>
                  <a:srgbClr val="FFFFFF"/>
                </a:solidFill>
                <a:latin typeface="+mj-lt"/>
                <a:ea typeface="+mj-ea"/>
                <a:cs typeface="+mj-cs"/>
              </a:rPr>
            </a:br>
            <a:r>
              <a:rPr lang="en-US" sz="3100" kern="1200">
                <a:solidFill>
                  <a:srgbClr val="FFFFFF"/>
                </a:solidFill>
                <a:latin typeface="+mj-lt"/>
                <a:ea typeface="+mj-ea"/>
                <a:cs typeface="+mj-cs"/>
              </a:rPr>
              <a:t>Data Flow Diagram for visitors</a:t>
            </a:r>
          </a:p>
        </p:txBody>
      </p:sp>
      <p:pic>
        <p:nvPicPr>
          <p:cNvPr id="4" name="Picture 3">
            <a:extLst>
              <a:ext uri="{FF2B5EF4-FFF2-40B4-BE49-F238E27FC236}">
                <a16:creationId xmlns:a16="http://schemas.microsoft.com/office/drawing/2014/main" id="{1813FC78-B9C2-24E0-4708-4846C3EC7F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309099" y="643466"/>
            <a:ext cx="3717133" cy="5568739"/>
          </a:xfrm>
          <a:prstGeom prst="rect">
            <a:avLst/>
          </a:prstGeom>
          <a:noFill/>
        </p:spPr>
      </p:pic>
    </p:spTree>
    <p:extLst>
      <p:ext uri="{BB962C8B-B14F-4D97-AF65-F5344CB8AC3E}">
        <p14:creationId xmlns:p14="http://schemas.microsoft.com/office/powerpoint/2010/main" val="1476515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C85E51-22BA-F744-920D-846C7F90F106}"/>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User Interface</a:t>
            </a:r>
          </a:p>
        </p:txBody>
      </p:sp>
      <p:sp>
        <p:nvSpPr>
          <p:cNvPr id="4" name="TextBox 3">
            <a:extLst>
              <a:ext uri="{FF2B5EF4-FFF2-40B4-BE49-F238E27FC236}">
                <a16:creationId xmlns:a16="http://schemas.microsoft.com/office/drawing/2014/main" id="{E8DE3D6F-4A2A-17C0-4770-C06D0A35D068}"/>
              </a:ext>
            </a:extLst>
          </p:cNvPr>
          <p:cNvSpPr txBox="1"/>
          <p:nvPr/>
        </p:nvSpPr>
        <p:spPr>
          <a:xfrm>
            <a:off x="477981" y="4872922"/>
            <a:ext cx="3933306" cy="1208141"/>
          </a:xfrm>
          <a:prstGeom prst="rect">
            <a:avLst/>
          </a:prstGeom>
        </p:spPr>
        <p:txBody>
          <a:bodyPr vert="horz" lIns="91440" tIns="45720" rIns="91440" bIns="45720" rtlCol="0">
            <a:normAutofit/>
          </a:bodyPr>
          <a:lstStyle/>
          <a:p>
            <a:pPr>
              <a:lnSpc>
                <a:spcPct val="90000"/>
              </a:lnSpc>
              <a:spcBef>
                <a:spcPts val="1000"/>
              </a:spcBef>
              <a:spcAft>
                <a:spcPts val="600"/>
              </a:spcAft>
            </a:pPr>
            <a:r>
              <a:rPr lang="en-US" sz="2000" kern="1200">
                <a:solidFill>
                  <a:schemeClr val="tx1"/>
                </a:solidFill>
                <a:latin typeface="+mn-lt"/>
                <a:ea typeface="+mn-ea"/>
                <a:cs typeface="+mn-cs"/>
              </a:rPr>
              <a:t>Registration  From</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7" name="Picture 6">
            <a:extLst>
              <a:ext uri="{FF2B5EF4-FFF2-40B4-BE49-F238E27FC236}">
                <a16:creationId xmlns:a16="http://schemas.microsoft.com/office/drawing/2014/main" id="{BCE421EF-E8A9-D84D-3970-36D26E6F3D9E}"/>
              </a:ext>
            </a:extLst>
          </p:cNvPr>
          <p:cNvPicPr>
            <a:picLocks noChangeAspect="1"/>
          </p:cNvPicPr>
          <p:nvPr/>
        </p:nvPicPr>
        <p:blipFill>
          <a:blip r:embed="rId2"/>
          <a:stretch>
            <a:fillRect/>
          </a:stretch>
        </p:blipFill>
        <p:spPr>
          <a:xfrm>
            <a:off x="4864608" y="1539087"/>
            <a:ext cx="6846363" cy="3628572"/>
          </a:xfrm>
          <a:prstGeom prst="rect">
            <a:avLst/>
          </a:prstGeom>
        </p:spPr>
      </p:pic>
    </p:spTree>
    <p:extLst>
      <p:ext uri="{BB962C8B-B14F-4D97-AF65-F5344CB8AC3E}">
        <p14:creationId xmlns:p14="http://schemas.microsoft.com/office/powerpoint/2010/main" val="1683357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C48676-D072-CEB2-F782-02730BE4FE7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695254-F2A4-13BC-920C-E132CCAD0FC5}"/>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User Interface</a:t>
            </a:r>
          </a:p>
        </p:txBody>
      </p:sp>
      <p:sp>
        <p:nvSpPr>
          <p:cNvPr id="4" name="TextBox 3">
            <a:extLst>
              <a:ext uri="{FF2B5EF4-FFF2-40B4-BE49-F238E27FC236}">
                <a16:creationId xmlns:a16="http://schemas.microsoft.com/office/drawing/2014/main" id="{B90B0453-0336-257C-F78C-AB51DF1C4186}"/>
              </a:ext>
            </a:extLst>
          </p:cNvPr>
          <p:cNvSpPr txBox="1"/>
          <p:nvPr/>
        </p:nvSpPr>
        <p:spPr>
          <a:xfrm>
            <a:off x="477981" y="4872922"/>
            <a:ext cx="3933306" cy="1208141"/>
          </a:xfrm>
          <a:prstGeom prst="rect">
            <a:avLst/>
          </a:prstGeom>
        </p:spPr>
        <p:txBody>
          <a:bodyPr vert="horz" lIns="91440" tIns="45720" rIns="91440" bIns="45720" rtlCol="0">
            <a:normAutofit/>
          </a:bodyPr>
          <a:lstStyle/>
          <a:p>
            <a:pPr>
              <a:lnSpc>
                <a:spcPct val="90000"/>
              </a:lnSpc>
              <a:spcBef>
                <a:spcPts val="1000"/>
              </a:spcBef>
              <a:spcAft>
                <a:spcPts val="600"/>
              </a:spcAft>
            </a:pPr>
            <a:r>
              <a:rPr lang="en-US" sz="2000" kern="1200">
                <a:solidFill>
                  <a:schemeClr val="tx1"/>
                </a:solidFill>
                <a:latin typeface="+mn-lt"/>
                <a:ea typeface="+mn-ea"/>
                <a:cs typeface="+mn-cs"/>
              </a:rPr>
              <a:t>Book catalog</a:t>
            </a:r>
          </a:p>
        </p:txBody>
      </p:sp>
      <p:sp>
        <p:nvSpPr>
          <p:cNvPr id="11" name="Rectangle 1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3" name="Picture 2">
            <a:extLst>
              <a:ext uri="{FF2B5EF4-FFF2-40B4-BE49-F238E27FC236}">
                <a16:creationId xmlns:a16="http://schemas.microsoft.com/office/drawing/2014/main" id="{4286B5A0-0D0C-C88A-D484-09B9EBFC7971}"/>
              </a:ext>
            </a:extLst>
          </p:cNvPr>
          <p:cNvPicPr>
            <a:picLocks noChangeAspect="1"/>
          </p:cNvPicPr>
          <p:nvPr/>
        </p:nvPicPr>
        <p:blipFill rotWithShape="1">
          <a:blip r:embed="rId2"/>
          <a:srcRect l="721" t="-4870" r="-721" b="38017"/>
          <a:stretch>
            <a:fillRect/>
          </a:stretch>
        </p:blipFill>
        <p:spPr bwMode="auto">
          <a:xfrm>
            <a:off x="4864608" y="810597"/>
            <a:ext cx="6846363" cy="5085552"/>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1997730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A23464-3E6E-D4B4-E0EF-33CE5DCA011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0DBC8B-457D-77C5-BE7A-1757F851DD07}"/>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User Interface</a:t>
            </a:r>
          </a:p>
        </p:txBody>
      </p:sp>
      <p:sp>
        <p:nvSpPr>
          <p:cNvPr id="4" name="TextBox 3">
            <a:extLst>
              <a:ext uri="{FF2B5EF4-FFF2-40B4-BE49-F238E27FC236}">
                <a16:creationId xmlns:a16="http://schemas.microsoft.com/office/drawing/2014/main" id="{095873A4-ED83-2307-848C-5ED61EF2659A}"/>
              </a:ext>
            </a:extLst>
          </p:cNvPr>
          <p:cNvSpPr txBox="1"/>
          <p:nvPr/>
        </p:nvSpPr>
        <p:spPr>
          <a:xfrm>
            <a:off x="477981" y="4872922"/>
            <a:ext cx="3933306" cy="1208141"/>
          </a:xfrm>
          <a:prstGeom prst="rect">
            <a:avLst/>
          </a:prstGeom>
        </p:spPr>
        <p:txBody>
          <a:bodyPr vert="horz" lIns="91440" tIns="45720" rIns="91440" bIns="45720" rtlCol="0">
            <a:normAutofit/>
          </a:bodyPr>
          <a:lstStyle/>
          <a:p>
            <a:pPr>
              <a:lnSpc>
                <a:spcPct val="90000"/>
              </a:lnSpc>
              <a:spcBef>
                <a:spcPts val="1000"/>
              </a:spcBef>
              <a:spcAft>
                <a:spcPts val="600"/>
              </a:spcAft>
            </a:pPr>
            <a:r>
              <a:rPr lang="en-US" sz="2000" kern="1200">
                <a:solidFill>
                  <a:schemeClr val="tx1"/>
                </a:solidFill>
                <a:latin typeface="+mn-lt"/>
                <a:ea typeface="+mn-ea"/>
                <a:cs typeface="+mn-cs"/>
              </a:rPr>
              <a:t>Book Details</a:t>
            </a:r>
          </a:p>
        </p:txBody>
      </p:sp>
      <p:sp>
        <p:nvSpPr>
          <p:cNvPr id="11" name="Rectangle 1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3" name="Picture 2">
            <a:extLst>
              <a:ext uri="{FF2B5EF4-FFF2-40B4-BE49-F238E27FC236}">
                <a16:creationId xmlns:a16="http://schemas.microsoft.com/office/drawing/2014/main" id="{91A288E1-A48F-7465-F6A8-1A08CF95AC7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64608" y="922915"/>
            <a:ext cx="6846363" cy="4860915"/>
          </a:xfrm>
          <a:prstGeom prst="rect">
            <a:avLst/>
          </a:prstGeom>
        </p:spPr>
      </p:pic>
    </p:spTree>
    <p:extLst>
      <p:ext uri="{BB962C8B-B14F-4D97-AF65-F5344CB8AC3E}">
        <p14:creationId xmlns:p14="http://schemas.microsoft.com/office/powerpoint/2010/main" val="23594432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128022-72F4-6ED9-FD47-1D736DB667E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D1EC80-B5A5-C24E-7F70-007977C47E38}"/>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User Interface</a:t>
            </a:r>
          </a:p>
        </p:txBody>
      </p:sp>
      <p:sp>
        <p:nvSpPr>
          <p:cNvPr id="4" name="TextBox 3">
            <a:extLst>
              <a:ext uri="{FF2B5EF4-FFF2-40B4-BE49-F238E27FC236}">
                <a16:creationId xmlns:a16="http://schemas.microsoft.com/office/drawing/2014/main" id="{588577C6-BDBA-921A-74AA-76992B763259}"/>
              </a:ext>
            </a:extLst>
          </p:cNvPr>
          <p:cNvSpPr txBox="1"/>
          <p:nvPr/>
        </p:nvSpPr>
        <p:spPr>
          <a:xfrm>
            <a:off x="477981" y="4872922"/>
            <a:ext cx="3933306" cy="1208141"/>
          </a:xfrm>
          <a:prstGeom prst="rect">
            <a:avLst/>
          </a:prstGeom>
        </p:spPr>
        <p:txBody>
          <a:bodyPr vert="horz" lIns="91440" tIns="45720" rIns="91440" bIns="45720" rtlCol="0">
            <a:normAutofit/>
          </a:bodyPr>
          <a:lstStyle/>
          <a:p>
            <a:pPr>
              <a:lnSpc>
                <a:spcPct val="90000"/>
              </a:lnSpc>
              <a:spcBef>
                <a:spcPts val="1000"/>
              </a:spcBef>
              <a:spcAft>
                <a:spcPts val="600"/>
              </a:spcAft>
            </a:pPr>
            <a:r>
              <a:rPr lang="en-US" sz="2000" kern="1200">
                <a:solidFill>
                  <a:schemeClr val="tx1"/>
                </a:solidFill>
                <a:latin typeface="+mn-lt"/>
                <a:ea typeface="+mn-ea"/>
                <a:cs typeface="+mn-cs"/>
              </a:rPr>
              <a:t>Student Profile</a:t>
            </a:r>
          </a:p>
        </p:txBody>
      </p:sp>
      <p:sp>
        <p:nvSpPr>
          <p:cNvPr id="11" name="Rectangle 1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3" name="Picture 2">
            <a:extLst>
              <a:ext uri="{FF2B5EF4-FFF2-40B4-BE49-F238E27FC236}">
                <a16:creationId xmlns:a16="http://schemas.microsoft.com/office/drawing/2014/main" id="{F5CF6EED-51CC-62E0-9BBD-25E91D4F70E3}"/>
              </a:ext>
            </a:extLst>
          </p:cNvPr>
          <p:cNvPicPr>
            <a:picLocks noChangeAspect="1"/>
          </p:cNvPicPr>
          <p:nvPr/>
        </p:nvPicPr>
        <p:blipFill>
          <a:blip r:embed="rId2"/>
          <a:stretch>
            <a:fillRect/>
          </a:stretch>
        </p:blipFill>
        <p:spPr>
          <a:xfrm>
            <a:off x="4864608" y="691850"/>
            <a:ext cx="6846363" cy="5323046"/>
          </a:xfrm>
          <a:prstGeom prst="rect">
            <a:avLst/>
          </a:prstGeom>
        </p:spPr>
      </p:pic>
    </p:spTree>
    <p:extLst>
      <p:ext uri="{BB962C8B-B14F-4D97-AF65-F5344CB8AC3E}">
        <p14:creationId xmlns:p14="http://schemas.microsoft.com/office/powerpoint/2010/main" val="17427697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9C0F6-3073-B139-BCD5-0D8A530A6E8B}"/>
              </a:ext>
            </a:extLst>
          </p:cNvPr>
          <p:cNvSpPr>
            <a:spLocks noGrp="1"/>
          </p:cNvSpPr>
          <p:nvPr>
            <p:ph type="title"/>
          </p:nvPr>
        </p:nvSpPr>
        <p:spPr>
          <a:xfrm>
            <a:off x="838200" y="456565"/>
            <a:ext cx="10515600" cy="782955"/>
          </a:xfrm>
        </p:spPr>
        <p:txBody>
          <a:bodyPr>
            <a:normAutofit/>
          </a:bodyPr>
          <a:lstStyle/>
          <a:p>
            <a:r>
              <a:rPr lang="en-US" sz="4000">
                <a:latin typeface="Times New Roman" panose="02020603050405020304" pitchFamily="18" charset="0"/>
                <a:cs typeface="Times New Roman" panose="02020603050405020304" pitchFamily="18" charset="0"/>
              </a:rPr>
              <a:t>Limitation</a:t>
            </a:r>
            <a:endParaRPr lang="en-US" sz="4000" dirty="0">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7B8F0724-1668-3949-FDF6-4221A92390A1}"/>
              </a:ext>
            </a:extLst>
          </p:cNvPr>
          <p:cNvSpPr>
            <a:spLocks noChangeArrowheads="1"/>
          </p:cNvSpPr>
          <p:nvPr/>
        </p:nvSpPr>
        <p:spPr bwMode="auto">
          <a:xfrm>
            <a:off x="838200" y="1407670"/>
            <a:ext cx="9987280"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Requires a stable internet/network connection for accessing the system. </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System performance depends on the backend server and database availability. </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Currently focused on core library management operations. </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Does not provide a dedicated mobile application. </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Advanced features such as barcode/QR-based book tracking are not included. </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Automated email/SMS notifications for due dates and overdue books are not currently available. </a:t>
            </a:r>
          </a:p>
        </p:txBody>
      </p:sp>
    </p:spTree>
    <p:extLst>
      <p:ext uri="{BB962C8B-B14F-4D97-AF65-F5344CB8AC3E}">
        <p14:creationId xmlns:p14="http://schemas.microsoft.com/office/powerpoint/2010/main" val="41546901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F27BA-3DB1-F9B1-7C1B-8377C6B59B09}"/>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System Enhancement</a:t>
            </a:r>
          </a:p>
        </p:txBody>
      </p:sp>
      <p:sp>
        <p:nvSpPr>
          <p:cNvPr id="5" name="TextBox 4">
            <a:extLst>
              <a:ext uri="{FF2B5EF4-FFF2-40B4-BE49-F238E27FC236}">
                <a16:creationId xmlns:a16="http://schemas.microsoft.com/office/drawing/2014/main" id="{8E2BD1C1-F338-8080-388D-89FFFDCA2285}"/>
              </a:ext>
            </a:extLst>
          </p:cNvPr>
          <p:cNvSpPr txBox="1"/>
          <p:nvPr/>
        </p:nvSpPr>
        <p:spPr>
          <a:xfrm>
            <a:off x="838200" y="1690688"/>
            <a:ext cx="10515600" cy="5011949"/>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Develop a dedicated mobile application for Android and iOS.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Add barcode/QR code scanning for faster book issue and return.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Implement automated email/SMS notifications for due dates and overdue books.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Introduce advanced reports and analytics for books, members, inventory, and fines.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Add online fine payment and payment tracking.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 automated book recommendations based on student interests and borrowing history.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Implement real-time notifications for important library activities.</a:t>
            </a:r>
          </a:p>
        </p:txBody>
      </p:sp>
    </p:spTree>
    <p:extLst>
      <p:ext uri="{BB962C8B-B14F-4D97-AF65-F5344CB8AC3E}">
        <p14:creationId xmlns:p14="http://schemas.microsoft.com/office/powerpoint/2010/main" val="13294418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D930C-7AB5-8352-D21B-41A8E060D912}"/>
              </a:ext>
            </a:extLst>
          </p:cNvPr>
          <p:cNvSpPr>
            <a:spLocks noGrp="1"/>
          </p:cNvSpPr>
          <p:nvPr>
            <p:ph type="title"/>
          </p:nvPr>
        </p:nvSpPr>
        <p:spPr>
          <a:xfrm>
            <a:off x="838200" y="476885"/>
            <a:ext cx="10515600" cy="681355"/>
          </a:xfrm>
        </p:spPr>
        <p:txBody>
          <a:bodyPr>
            <a:normAutofit fontScale="90000"/>
          </a:bodyPr>
          <a:lstStyle/>
          <a:p>
            <a:r>
              <a:rPr lang="en-US" dirty="0">
                <a:latin typeface="Times New Roman" panose="02020603050405020304" pitchFamily="18" charset="0"/>
                <a:cs typeface="Times New Roman" panose="02020603050405020304" pitchFamily="18" charset="0"/>
              </a:rPr>
              <a:t>Conclusion</a:t>
            </a:r>
          </a:p>
        </p:txBody>
      </p:sp>
      <p:sp>
        <p:nvSpPr>
          <p:cNvPr id="5" name="TextBox 4">
            <a:extLst>
              <a:ext uri="{FF2B5EF4-FFF2-40B4-BE49-F238E27FC236}">
                <a16:creationId xmlns:a16="http://schemas.microsoft.com/office/drawing/2014/main" id="{6AFEB385-AD92-4FE3-0C09-25ADFE875AB6}"/>
              </a:ext>
            </a:extLst>
          </p:cNvPr>
          <p:cNvSpPr txBox="1"/>
          <p:nvPr/>
        </p:nvSpPr>
        <p:spPr>
          <a:xfrm>
            <a:off x="838200" y="1425139"/>
            <a:ext cx="10515600" cy="3903954"/>
          </a:xfrm>
          <a:prstGeom prst="rect">
            <a:avLst/>
          </a:prstGeom>
          <a:noFill/>
        </p:spPr>
        <p:txBody>
          <a:bodyPr wrap="square">
            <a:spAutoFit/>
          </a:bodyPr>
          <a:lstStyle/>
          <a:p>
            <a:pPr algn="just">
              <a:lnSpc>
                <a:spcPct val="150000"/>
              </a:lnSpc>
            </a:pPr>
            <a:r>
              <a:rPr lang="en-US" sz="2400" dirty="0" err="1">
                <a:latin typeface="Times New Roman" panose="02020603050405020304" pitchFamily="18" charset="0"/>
                <a:cs typeface="Times New Roman" panose="02020603050405020304" pitchFamily="18" charset="0"/>
              </a:rPr>
              <a:t>PustakSetu</a:t>
            </a:r>
            <a:r>
              <a:rPr lang="en-US" sz="2400" dirty="0">
                <a:latin typeface="Times New Roman" panose="02020603050405020304" pitchFamily="18" charset="0"/>
                <a:cs typeface="Times New Roman" panose="02020603050405020304" pitchFamily="18" charset="0"/>
              </a:rPr>
              <a:t> provides a centralized and efficient solution for managing library operations digitally. It simplifies book management, inventory tracking, member management, book issue and return, overdue records, and fines. Students can easily search for books and monitor their borrowing activities, while administrators can manage library resources through secure role-based access. Overall, the system reduces manual work, improves accuracy, and enhances the efficiency of library management, while providing a strong foundation for future enhancements.</a:t>
            </a:r>
          </a:p>
        </p:txBody>
      </p:sp>
    </p:spTree>
    <p:extLst>
      <p:ext uri="{BB962C8B-B14F-4D97-AF65-F5344CB8AC3E}">
        <p14:creationId xmlns:p14="http://schemas.microsoft.com/office/powerpoint/2010/main" val="30666996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4D08C-7A35-88CD-6CC6-17137FBA8843}"/>
              </a:ext>
            </a:extLst>
          </p:cNvPr>
          <p:cNvSpPr>
            <a:spLocks noGrp="1"/>
          </p:cNvSpPr>
          <p:nvPr>
            <p:ph type="title"/>
          </p:nvPr>
        </p:nvSpPr>
        <p:spPr>
          <a:xfrm>
            <a:off x="838200" y="517525"/>
            <a:ext cx="10515600" cy="671195"/>
          </a:xfrm>
        </p:spPr>
        <p:txBody>
          <a:bodyPr>
            <a:normAutofit fontScale="90000"/>
          </a:bodyPr>
          <a:lstStyle/>
          <a:p>
            <a:r>
              <a:rPr lang="en-US" dirty="0">
                <a:latin typeface="Times New Roman" panose="02020603050405020304" pitchFamily="18" charset="0"/>
                <a:cs typeface="Times New Roman" panose="02020603050405020304" pitchFamily="18" charset="0"/>
              </a:rPr>
              <a:t>Reference</a:t>
            </a:r>
          </a:p>
        </p:txBody>
      </p:sp>
      <p:sp>
        <p:nvSpPr>
          <p:cNvPr id="6" name="TextBox 5">
            <a:extLst>
              <a:ext uri="{FF2B5EF4-FFF2-40B4-BE49-F238E27FC236}">
                <a16:creationId xmlns:a16="http://schemas.microsoft.com/office/drawing/2014/main" id="{7B45F27C-BF1C-E7E9-A2EF-FCC0659102A7}"/>
              </a:ext>
            </a:extLst>
          </p:cNvPr>
          <p:cNvSpPr txBox="1"/>
          <p:nvPr/>
        </p:nvSpPr>
        <p:spPr>
          <a:xfrm>
            <a:off x="838200" y="1176126"/>
            <a:ext cx="10378440" cy="5381281"/>
          </a:xfrm>
          <a:prstGeom prst="rect">
            <a:avLst/>
          </a:prstGeom>
          <a:noFill/>
        </p:spPr>
        <p:txBody>
          <a:bodyPr wrap="square">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React.js Documentation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lvl="0"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to design and develop the frontend of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PustakSetu</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including reusable components, interactive pages, forms, and user dashboards.</a:t>
            </a:r>
          </a:p>
          <a:p>
            <a:pPr lvl="0" algn="just" eaLnBrk="0" fontAlgn="base" hangingPunct="0">
              <a:lnSpc>
                <a:spcPct val="150000"/>
              </a:lnSpc>
              <a:spcBef>
                <a:spcPct val="0"/>
              </a:spcBef>
              <a:spcAft>
                <a:spcPct val="0"/>
              </a:spcAf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Node.js Documentation :</a:t>
            </a:r>
          </a:p>
          <a:p>
            <a:pPr marR="0" lvl="0" algn="just"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Helped in creating backend APIs, handling server logic, and managing requests</a:t>
            </a:r>
          </a:p>
          <a:p>
            <a:pPr marR="0" lvl="0" algn="just" defTabSz="914400" rtl="0" eaLnBrk="0" fontAlgn="base" latinLnBrk="0" hangingPunct="0">
              <a:lnSpc>
                <a:spcPct val="15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Vite &amp; Bootstrap 5 Documentation :</a:t>
            </a:r>
          </a:p>
          <a:p>
            <a:pPr marR="0" lvl="0" algn="just"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Vite was used for fast project development and optimized builds, while Bootstrap 5 was used to create responsive and consistent user interfaces.</a:t>
            </a:r>
          </a:p>
        </p:txBody>
      </p:sp>
    </p:spTree>
    <p:extLst>
      <p:ext uri="{BB962C8B-B14F-4D97-AF65-F5344CB8AC3E}">
        <p14:creationId xmlns:p14="http://schemas.microsoft.com/office/powerpoint/2010/main" val="38167819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CC36AF-8049-BA6D-82B7-08E521740785}"/>
              </a:ext>
            </a:extLst>
          </p:cNvPr>
          <p:cNvSpPr txBox="1"/>
          <p:nvPr/>
        </p:nvSpPr>
        <p:spPr>
          <a:xfrm>
            <a:off x="797560" y="820097"/>
            <a:ext cx="10596880" cy="3903954"/>
          </a:xfrm>
          <a:prstGeom prst="rect">
            <a:avLst/>
          </a:prstGeom>
          <a:noFill/>
        </p:spPr>
        <p:txBody>
          <a:bodyPr wrap="square">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Axios &amp; JWT Documentation :</a:t>
            </a:r>
          </a:p>
          <a:p>
            <a:pPr marR="0" lvl="0" algn="just"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Axios was used for communication between the frontend and backend, while JWT was used to implement secure authentication and role-based access.</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Relational Database Documentation :</a:t>
            </a:r>
            <a:endParaRPr lang="en-US" altLang="en-US" sz="2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to structure and manage important library data, including users, books, categories, inventory, book issues, returns, and fines.</a:t>
            </a:r>
          </a:p>
        </p:txBody>
      </p:sp>
    </p:spTree>
    <p:extLst>
      <p:ext uri="{BB962C8B-B14F-4D97-AF65-F5344CB8AC3E}">
        <p14:creationId xmlns:p14="http://schemas.microsoft.com/office/powerpoint/2010/main" val="3095745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096EA-8DBA-E73D-57B6-0A4CBE5B6D5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5EDA21-21E1-61B6-817A-BABF0845BD03}"/>
              </a:ext>
            </a:extLst>
          </p:cNvPr>
          <p:cNvSpPr txBox="1"/>
          <p:nvPr/>
        </p:nvSpPr>
        <p:spPr>
          <a:xfrm>
            <a:off x="2197101" y="735283"/>
            <a:ext cx="4978399" cy="3165045"/>
          </a:xfrm>
          <a:prstGeom prst="rect">
            <a:avLst/>
          </a:prstGeom>
        </p:spPr>
        <p:txBody>
          <a:bodyPr vert="horz" lIns="91440" tIns="45720" rIns="91440" bIns="45720" rtlCol="0" anchor="b">
            <a:normAutofit/>
          </a:bodyPr>
          <a:lstStyle/>
          <a:p>
            <a:pPr marR="0" lvl="0" fontAlgn="base">
              <a:lnSpc>
                <a:spcPct val="90000"/>
              </a:lnSpc>
              <a:spcBef>
                <a:spcPct val="0"/>
              </a:spcBef>
              <a:spcAft>
                <a:spcPts val="600"/>
              </a:spcAft>
              <a:buClrTx/>
              <a:buSzTx/>
              <a:tabLst/>
            </a:pPr>
            <a:r>
              <a:rPr kumimoji="0" lang="en-US" altLang="en-US" sz="5200" b="0" i="0" u="none" strike="noStrike" kern="1200" cap="none" normalizeH="0" baseline="0" dirty="0">
                <a:ln>
                  <a:noFill/>
                </a:ln>
                <a:solidFill>
                  <a:schemeClr val="tx1"/>
                </a:solidFill>
                <a:effectLst/>
                <a:latin typeface="Times New Roman" panose="02020603050405020304" pitchFamily="18" charset="0"/>
                <a:ea typeface="+mj-ea"/>
                <a:cs typeface="Times New Roman" panose="02020603050405020304" pitchFamily="18" charset="0"/>
              </a:rPr>
              <a:t>Thank You</a:t>
            </a:r>
          </a:p>
        </p:txBody>
      </p:sp>
      <p:pic>
        <p:nvPicPr>
          <p:cNvPr id="7" name="Graphic 6" descr="Smiling Face with No Fill">
            <a:extLst>
              <a:ext uri="{FF2B5EF4-FFF2-40B4-BE49-F238E27FC236}">
                <a16:creationId xmlns:a16="http://schemas.microsoft.com/office/drawing/2014/main" id="{28BEB036-8D1B-AC32-8FD7-7005913C6ED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7549" y="2776619"/>
            <a:ext cx="1289051" cy="1289051"/>
          </a:xfrm>
          <a:prstGeom prst="rect">
            <a:avLst/>
          </a:prstGeom>
        </p:spPr>
      </p:pic>
    </p:spTree>
    <p:extLst>
      <p:ext uri="{BB962C8B-B14F-4D97-AF65-F5344CB8AC3E}">
        <p14:creationId xmlns:p14="http://schemas.microsoft.com/office/powerpoint/2010/main" val="2939510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988</Words>
  <Application>Microsoft Office PowerPoint</Application>
  <PresentationFormat>Widescreen</PresentationFormat>
  <Paragraphs>104</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Aptos Display</vt:lpstr>
      <vt:lpstr>Arial</vt:lpstr>
      <vt:lpstr>Calibri</vt:lpstr>
      <vt:lpstr>Javanese Text</vt:lpstr>
      <vt:lpstr>Times New Roman</vt:lpstr>
      <vt:lpstr>Office Theme</vt:lpstr>
      <vt:lpstr>PowerPoint Presentation</vt:lpstr>
      <vt:lpstr>PowerPoint Presentation</vt:lpstr>
      <vt:lpstr>Table Content</vt:lpstr>
      <vt:lpstr>Overview</vt:lpstr>
      <vt:lpstr>Introduction</vt:lpstr>
      <vt:lpstr>Scope</vt:lpstr>
      <vt:lpstr>PowerPoint Presentation</vt:lpstr>
      <vt:lpstr>Whole System’s ER Diagram </vt:lpstr>
      <vt:lpstr>Level 0  Data Flow Diagram</vt:lpstr>
      <vt:lpstr>Level 1 Data Flow Diagram For admin</vt:lpstr>
      <vt:lpstr>Level 1 Data Flow Diagram for Student</vt:lpstr>
      <vt:lpstr>Level 1  Data Flow Diagram for visitor</vt:lpstr>
      <vt:lpstr>Level 2  Data Flow Diagram for admin</vt:lpstr>
      <vt:lpstr>Level 2  Data Flow Diagram for admin</vt:lpstr>
      <vt:lpstr>Level 2  Data Flow Diagram for student</vt:lpstr>
      <vt:lpstr>Level 2  Data Flow Diagram for visitors</vt:lpstr>
      <vt:lpstr>User Interface</vt:lpstr>
      <vt:lpstr>User Interface</vt:lpstr>
      <vt:lpstr>User Interface</vt:lpstr>
      <vt:lpstr>User Interface</vt:lpstr>
      <vt:lpstr>Limitation</vt:lpstr>
      <vt:lpstr>System Enhancement</vt:lpstr>
      <vt:lpstr>Conclusion</vt:lpstr>
      <vt:lpstr>Reference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Banty Patel</dc:creator>
  <cp:lastModifiedBy>Banty Patel</cp:lastModifiedBy>
  <cp:revision>2</cp:revision>
  <dcterms:created xsi:type="dcterms:W3CDTF">2026-09-15T16:50:49Z</dcterms:created>
  <dcterms:modified xsi:type="dcterms:W3CDTF">2026-09-15T17:14:39Z</dcterms:modified>
</cp:coreProperties>
</file>